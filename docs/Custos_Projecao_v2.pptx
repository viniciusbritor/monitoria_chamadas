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Inter"/>
      <p:regular r:id="rId201314"/>
      <p:bold r:id="rId301314"/>
    </p:embeddedFont>
    <p:embeddedFont>
      <p:font typeface="Roboto"/>
      <p:regular r:id="rId201315"/>
      <p:bold r:id="rId301315"/>
    </p:embeddedFont>
    <p:embeddedFont>
      <p:font typeface="Montserrat"/>
      <p:regular r:id="rId201316"/>
      <p:bold r:id="rId3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Relationship Id="rId301316" Target="fonts/3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98" y="377130"/>
            <a:ext cx="2109192" cy="185142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75" y="3293269"/>
            <a:ext cx="548580" cy="381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79" y="5088582"/>
            <a:ext cx="1572667" cy="651421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584" y="5071467"/>
            <a:ext cx="1975098" cy="651421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573" y="5081736"/>
            <a:ext cx="1731169" cy="651421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48251"/>
            <a:ext cx="12192000" cy="609600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201668"/>
            <a:ext cx="12192000" cy="9525"/>
          </a:xfrm>
          <a:prstGeom prst="rect">
            <a:avLst/>
          </a:prstGeom>
        </p:spPr>
      </p:pic>
      <p:pic>
        <p:nvPicPr>
          <p:cNvPr id="11" name="SK-1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2777" y="6432798"/>
            <a:ext cx="146298" cy="137071"/>
          </a:xfrm>
          <a:prstGeom prst="rect">
            <a:avLst/>
          </a:prstGeom>
        </p:spPr>
      </p:pic>
      <p:pic>
        <p:nvPicPr>
          <p:cNvPr id="12" name="SK-1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3388" y="1014859"/>
            <a:ext cx="3523357" cy="4107805"/>
          </a:xfrm>
          <a:prstGeom prst="rect">
            <a:avLst/>
          </a:prstGeom>
        </p:spPr>
      </p:pic>
      <p:sp>
        <p:nvSpPr>
          <p:cNvPr id="13" name="SK-1-text-12"/>
          <p:cNvSpPr/>
          <p:nvPr/>
        </p:nvSpPr>
        <p:spPr>
          <a:xfrm>
            <a:off x="670471" y="411361"/>
            <a:ext cx="5651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OMNICHANNEL • JULHO 2026</a:t>
            </a:r>
            <a:endParaRPr lang="en-US" sz="1275" dirty="0"/>
          </a:p>
        </p:txBody>
      </p:sp>
      <p:sp>
        <p:nvSpPr>
          <p:cNvPr id="14" name="SK-1-text-13"/>
          <p:cNvSpPr/>
          <p:nvPr/>
        </p:nvSpPr>
        <p:spPr>
          <a:xfrm>
            <a:off x="682675" y="987475"/>
            <a:ext cx="5547271" cy="12549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4868"/>
              </a:lnSpc>
              <a:buNone/>
            </a:pPr>
            <a:r>
              <a:rPr lang="en-US" sz="4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Projeção de Custos</a:t>
            </a:r>
            <a:endParaRPr lang="en-US" sz="4425" dirty="0"/>
          </a:p>
          <a:p>
            <a:pPr algn="l" indent="0" marL="0">
              <a:lnSpc>
                <a:spcPts val="4868"/>
              </a:lnSpc>
              <a:buNone/>
            </a:pPr>
            <a:r>
              <a:rPr lang="en-US" sz="4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OmniChannel</a:t>
            </a:r>
            <a:endParaRPr lang="en-US" sz="4425" dirty="0"/>
          </a:p>
        </p:txBody>
      </p:sp>
      <p:sp>
        <p:nvSpPr>
          <p:cNvPr id="15" name="SK-1-text-14"/>
          <p:cNvSpPr/>
          <p:nvPr/>
        </p:nvSpPr>
        <p:spPr>
          <a:xfrm>
            <a:off x="694879" y="3586609"/>
            <a:ext cx="68799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e Escala</a:t>
            </a:r>
            <a:endParaRPr lang="en-US" sz="2325" dirty="0"/>
          </a:p>
        </p:txBody>
      </p:sp>
      <p:sp>
        <p:nvSpPr>
          <p:cNvPr id="16" name="SK-1-text-15"/>
          <p:cNvSpPr/>
          <p:nvPr/>
        </p:nvSpPr>
        <p:spPr>
          <a:xfrm>
            <a:off x="682675" y="4094113"/>
            <a:ext cx="5681365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completa de infraestrutura, projeções de crescimento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modelo de risco Bayesiano — valores em R$ com margem de 10%</a:t>
            </a:r>
            <a:endParaRPr lang="en-US" sz="1350" dirty="0"/>
          </a:p>
        </p:txBody>
      </p:sp>
      <p:sp>
        <p:nvSpPr>
          <p:cNvPr id="17" name="SK-1-text-16"/>
          <p:cNvSpPr/>
          <p:nvPr/>
        </p:nvSpPr>
        <p:spPr>
          <a:xfrm>
            <a:off x="859631" y="5157192"/>
            <a:ext cx="1145828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R$ 3,544</a:t>
            </a:r>
            <a:endParaRPr lang="en-US" sz="1725" dirty="0"/>
          </a:p>
        </p:txBody>
      </p:sp>
      <p:sp>
        <p:nvSpPr>
          <p:cNvPr id="18" name="SK-1-text-17"/>
          <p:cNvSpPr/>
          <p:nvPr/>
        </p:nvSpPr>
        <p:spPr>
          <a:xfrm>
            <a:off x="869156" y="5431482"/>
            <a:ext cx="10901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mês hoje</a:t>
            </a:r>
            <a:endParaRPr lang="en-US" sz="1425" dirty="0"/>
          </a:p>
        </p:txBody>
      </p:sp>
      <p:sp>
        <p:nvSpPr>
          <p:cNvPr id="19" name="SK-1-text-18"/>
          <p:cNvSpPr/>
          <p:nvPr/>
        </p:nvSpPr>
        <p:spPr>
          <a:xfrm>
            <a:off x="2566392" y="5170884"/>
            <a:ext cx="1072604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R$ 0,03 /</a:t>
            </a:r>
            <a:endParaRPr lang="en-US" sz="1725" dirty="0"/>
          </a:p>
        </p:txBody>
      </p:sp>
      <p:sp>
        <p:nvSpPr>
          <p:cNvPr id="20" name="SK-1-text-19"/>
          <p:cNvSpPr/>
          <p:nvPr/>
        </p:nvSpPr>
        <p:spPr>
          <a:xfrm>
            <a:off x="2575917" y="5431482"/>
            <a:ext cx="169976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 em escala</a:t>
            </a:r>
            <a:endParaRPr lang="en-US" sz="1425" dirty="0"/>
          </a:p>
        </p:txBody>
      </p:sp>
      <p:sp>
        <p:nvSpPr>
          <p:cNvPr id="21" name="SK-1-text-20"/>
          <p:cNvSpPr/>
          <p:nvPr/>
        </p:nvSpPr>
        <p:spPr>
          <a:xfrm>
            <a:off x="4699992" y="5191423"/>
            <a:ext cx="1097012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 5,000</a:t>
            </a:r>
            <a:endParaRPr lang="en-US" sz="1725" dirty="0"/>
          </a:p>
        </p:txBody>
      </p:sp>
      <p:sp>
        <p:nvSpPr>
          <p:cNvPr id="22" name="SK-1-text-21"/>
          <p:cNvSpPr/>
          <p:nvPr/>
        </p:nvSpPr>
        <p:spPr>
          <a:xfrm>
            <a:off x="4721721" y="5424636"/>
            <a:ext cx="133394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chamadas/dia</a:t>
            </a:r>
            <a:endParaRPr lang="en-US" sz="1425" dirty="0"/>
          </a:p>
        </p:txBody>
      </p:sp>
      <p:sp>
        <p:nvSpPr>
          <p:cNvPr id="23" name="SK-1-text-22"/>
          <p:cNvSpPr/>
          <p:nvPr/>
        </p:nvSpPr>
        <p:spPr>
          <a:xfrm>
            <a:off x="670471" y="6418957"/>
            <a:ext cx="7105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Confidenial — Use Restrito a Investidores</a:t>
            </a:r>
            <a:endParaRPr lang="en-US" sz="1125" dirty="0"/>
          </a:p>
        </p:txBody>
      </p:sp>
      <p:sp>
        <p:nvSpPr>
          <p:cNvPr id="24" name="SK-1-text-23"/>
          <p:cNvSpPr/>
          <p:nvPr/>
        </p:nvSpPr>
        <p:spPr>
          <a:xfrm>
            <a:off x="11067157" y="6418957"/>
            <a:ext cx="441871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969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90" y="461516"/>
            <a:ext cx="10119271" cy="95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0"/>
            <a:ext cx="4267200" cy="617220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290" y="1913334"/>
            <a:ext cx="2889498" cy="3915817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060454"/>
            <a:ext cx="1914079" cy="433388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5475" y="3718471"/>
            <a:ext cx="609600" cy="38100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098" y="3670169"/>
            <a:ext cx="134704" cy="134704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965" y="1961257"/>
            <a:ext cx="2889498" cy="3867894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8290" y="2057400"/>
            <a:ext cx="1219200" cy="1028700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4675" y="5060454"/>
            <a:ext cx="1914079" cy="433388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7788" y="2023021"/>
            <a:ext cx="2889498" cy="3806130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8573" y="5061198"/>
            <a:ext cx="1914079" cy="438894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290" y="6158359"/>
            <a:ext cx="10509498" cy="699492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95098" y="2153394"/>
            <a:ext cx="987475" cy="884634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27169" y="3552379"/>
            <a:ext cx="694879" cy="390823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78996" y="2112169"/>
            <a:ext cx="877788" cy="850255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7153" y="2064246"/>
            <a:ext cx="963067" cy="898327"/>
          </a:xfrm>
          <a:prstGeom prst="rect">
            <a:avLst/>
          </a:prstGeom>
        </p:spPr>
      </p:pic>
      <p:sp>
        <p:nvSpPr>
          <p:cNvPr id="20" name="SK-2-text-19"/>
          <p:cNvSpPr/>
          <p:nvPr/>
        </p:nvSpPr>
        <p:spPr>
          <a:xfrm>
            <a:off x="963067" y="198834"/>
            <a:ext cx="230505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E5C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10</a:t>
            </a:r>
            <a:endParaRPr lang="en-US" sz="1500" dirty="0"/>
          </a:p>
        </p:txBody>
      </p:sp>
      <p:sp>
        <p:nvSpPr>
          <p:cNvPr id="21" name="SK-2-text-20"/>
          <p:cNvSpPr/>
          <p:nvPr/>
        </p:nvSpPr>
        <p:spPr>
          <a:xfrm>
            <a:off x="963067" y="761107"/>
            <a:ext cx="11228933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Integrada do Ecossistema</a:t>
            </a:r>
            <a:endParaRPr lang="en-US" sz="3825" dirty="0"/>
          </a:p>
        </p:txBody>
      </p:sp>
      <p:sp>
        <p:nvSpPr>
          <p:cNvPr id="22" name="SK-2-text-21"/>
          <p:cNvSpPr/>
          <p:nvPr/>
        </p:nvSpPr>
        <p:spPr>
          <a:xfrm>
            <a:off x="963067" y="1344067"/>
            <a:ext cx="11228933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módulos interdependentes — uma plataforma unificada</a:t>
            </a:r>
            <a:endParaRPr lang="en-US" sz="2025" dirty="0"/>
          </a:p>
        </p:txBody>
      </p:sp>
      <p:sp>
        <p:nvSpPr>
          <p:cNvPr id="23" name="SK-2-text-22"/>
          <p:cNvSpPr/>
          <p:nvPr/>
        </p:nvSpPr>
        <p:spPr>
          <a:xfrm>
            <a:off x="1962894" y="3154561"/>
            <a:ext cx="221170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C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01</a:t>
            </a:r>
            <a:endParaRPr lang="en-US" sz="1350" dirty="0"/>
          </a:p>
        </p:txBody>
      </p:sp>
      <p:sp>
        <p:nvSpPr>
          <p:cNvPr id="24" name="SK-2-text-23"/>
          <p:cNvSpPr/>
          <p:nvPr/>
        </p:nvSpPr>
        <p:spPr>
          <a:xfrm>
            <a:off x="1633686" y="3415159"/>
            <a:ext cx="1658094" cy="5622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 de</a:t>
            </a:r>
            <a:endParaRPr lang="en-US" sz="202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</a:t>
            </a:r>
            <a:endParaRPr lang="en-US" sz="2025" dirty="0"/>
          </a:p>
        </p:txBody>
      </p:sp>
      <p:sp>
        <p:nvSpPr>
          <p:cNvPr id="25" name="SK-2-text-24"/>
          <p:cNvSpPr/>
          <p:nvPr/>
        </p:nvSpPr>
        <p:spPr>
          <a:xfrm>
            <a:off x="1182588" y="4128492"/>
            <a:ext cx="61722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Worker Cloud Run — 4vCPU / 4GB</a:t>
            </a:r>
            <a:endParaRPr lang="en-US" sz="1200" dirty="0"/>
          </a:p>
        </p:txBody>
      </p:sp>
      <p:sp>
        <p:nvSpPr>
          <p:cNvPr id="26" name="SK-2-text-25"/>
          <p:cNvSpPr/>
          <p:nvPr/>
        </p:nvSpPr>
        <p:spPr>
          <a:xfrm>
            <a:off x="1182588" y="4382244"/>
            <a:ext cx="611124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DeepSeek LLM + MiniMax fallback</a:t>
            </a:r>
            <a:endParaRPr lang="en-US" sz="1200" dirty="0"/>
          </a:p>
        </p:txBody>
      </p:sp>
      <p:sp>
        <p:nvSpPr>
          <p:cNvPr id="27" name="SK-2-text-26"/>
          <p:cNvSpPr/>
          <p:nvPr/>
        </p:nvSpPr>
        <p:spPr>
          <a:xfrm>
            <a:off x="1182588" y="4629150"/>
            <a:ext cx="672084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Até 16.000 chamadas/dia no pico</a:t>
            </a:r>
            <a:endParaRPr lang="en-US" sz="1200" dirty="0"/>
          </a:p>
        </p:txBody>
      </p:sp>
      <p:sp>
        <p:nvSpPr>
          <p:cNvPr id="28" name="SK-2-text-27"/>
          <p:cNvSpPr/>
          <p:nvPr/>
        </p:nvSpPr>
        <p:spPr>
          <a:xfrm>
            <a:off x="1670298" y="5136505"/>
            <a:ext cx="4449127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R$ 595 / mês</a:t>
            </a:r>
            <a:endParaRPr lang="en-US" sz="2025" dirty="0"/>
          </a:p>
        </p:txBody>
      </p:sp>
      <p:sp>
        <p:nvSpPr>
          <p:cNvPr id="29" name="SK-2-text-28"/>
          <p:cNvSpPr/>
          <p:nvPr/>
        </p:nvSpPr>
        <p:spPr>
          <a:xfrm>
            <a:off x="2133600" y="5548015"/>
            <a:ext cx="171069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atual</a:t>
            </a:r>
            <a:endParaRPr lang="en-US" sz="975" dirty="0"/>
          </a:p>
        </p:txBody>
      </p:sp>
      <p:sp>
        <p:nvSpPr>
          <p:cNvPr id="30" name="SK-2-text-29"/>
          <p:cNvSpPr/>
          <p:nvPr/>
        </p:nvSpPr>
        <p:spPr>
          <a:xfrm>
            <a:off x="5730180" y="3140869"/>
            <a:ext cx="221170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C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02</a:t>
            </a:r>
            <a:endParaRPr lang="en-US" sz="1350" dirty="0"/>
          </a:p>
        </p:txBody>
      </p:sp>
      <p:sp>
        <p:nvSpPr>
          <p:cNvPr id="31" name="SK-2-text-30"/>
          <p:cNvSpPr/>
          <p:nvPr/>
        </p:nvSpPr>
        <p:spPr>
          <a:xfrm>
            <a:off x="5510659" y="3429000"/>
            <a:ext cx="1414165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</a:t>
            </a:r>
            <a:endParaRPr lang="en-US" sz="202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2025" dirty="0"/>
          </a:p>
        </p:txBody>
      </p:sp>
      <p:sp>
        <p:nvSpPr>
          <p:cNvPr id="32" name="SK-2-text-31"/>
          <p:cNvSpPr/>
          <p:nvPr/>
        </p:nvSpPr>
        <p:spPr>
          <a:xfrm>
            <a:off x="4888855" y="4128492"/>
            <a:ext cx="537972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VM e2-small — 2vCPU / 2GB</a:t>
            </a:r>
            <a:endParaRPr lang="en-US" sz="1200" dirty="0"/>
          </a:p>
        </p:txBody>
      </p:sp>
      <p:sp>
        <p:nvSpPr>
          <p:cNvPr id="33" name="SK-2-text-32"/>
          <p:cNvSpPr/>
          <p:nvPr/>
        </p:nvSpPr>
        <p:spPr>
          <a:xfrm>
            <a:off x="4888855" y="4375398"/>
            <a:ext cx="647700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Firestore + Storage + IP Estático</a:t>
            </a:r>
            <a:endParaRPr lang="en-US" sz="1200" dirty="0"/>
          </a:p>
        </p:txBody>
      </p:sp>
      <p:sp>
        <p:nvSpPr>
          <p:cNvPr id="34" name="SK-2-text-33"/>
          <p:cNvSpPr/>
          <p:nvPr/>
        </p:nvSpPr>
        <p:spPr>
          <a:xfrm>
            <a:off x="4888855" y="4629150"/>
            <a:ext cx="7147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Escalável até 5 chatbots simultâneos</a:t>
            </a:r>
            <a:endParaRPr lang="en-US" sz="1200" dirty="0"/>
          </a:p>
        </p:txBody>
      </p:sp>
      <p:sp>
        <p:nvSpPr>
          <p:cNvPr id="35" name="SK-2-text-34"/>
          <p:cNvSpPr/>
          <p:nvPr/>
        </p:nvSpPr>
        <p:spPr>
          <a:xfrm>
            <a:off x="5449788" y="5136505"/>
            <a:ext cx="4449127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R$ 157 / mês</a:t>
            </a:r>
            <a:endParaRPr lang="en-US" sz="2025" dirty="0"/>
          </a:p>
        </p:txBody>
      </p:sp>
      <p:sp>
        <p:nvSpPr>
          <p:cNvPr id="36" name="SK-2-text-35"/>
          <p:cNvSpPr/>
          <p:nvPr/>
        </p:nvSpPr>
        <p:spPr>
          <a:xfrm>
            <a:off x="5791200" y="5541169"/>
            <a:ext cx="24041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chatbot ativo</a:t>
            </a:r>
            <a:endParaRPr lang="en-US" sz="975" dirty="0"/>
          </a:p>
        </p:txBody>
      </p:sp>
      <p:sp>
        <p:nvSpPr>
          <p:cNvPr id="37" name="SK-2-text-36"/>
          <p:cNvSpPr/>
          <p:nvPr/>
        </p:nvSpPr>
        <p:spPr>
          <a:xfrm>
            <a:off x="7741890" y="4004965"/>
            <a:ext cx="780157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endParaRPr lang="en-US" sz="900" dirty="0"/>
          </a:p>
          <a:p>
            <a:pPr algn="ctr"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tempo real</a:t>
            </a:r>
            <a:endParaRPr lang="en-US" sz="900" dirty="0"/>
          </a:p>
        </p:txBody>
      </p:sp>
      <p:sp>
        <p:nvSpPr>
          <p:cNvPr id="38" name="SK-2-text-37"/>
          <p:cNvSpPr/>
          <p:nvPr/>
        </p:nvSpPr>
        <p:spPr>
          <a:xfrm>
            <a:off x="9595098" y="3140869"/>
            <a:ext cx="221170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C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03</a:t>
            </a:r>
            <a:endParaRPr lang="en-US" sz="1350" dirty="0"/>
          </a:p>
        </p:txBody>
      </p:sp>
      <p:sp>
        <p:nvSpPr>
          <p:cNvPr id="39" name="SK-2-text-38"/>
          <p:cNvSpPr/>
          <p:nvPr/>
        </p:nvSpPr>
        <p:spPr>
          <a:xfrm>
            <a:off x="9692580" y="3415159"/>
            <a:ext cx="1121569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</a:t>
            </a:r>
            <a:endParaRPr lang="en-US" sz="202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Coherence</a:t>
            </a:r>
            <a:endParaRPr lang="en-US" sz="2025" dirty="0"/>
          </a:p>
        </p:txBody>
      </p:sp>
      <p:sp>
        <p:nvSpPr>
          <p:cNvPr id="40" name="SK-2-text-39"/>
          <p:cNvSpPr/>
          <p:nvPr/>
        </p:nvSpPr>
        <p:spPr>
          <a:xfrm>
            <a:off x="8753773" y="4128492"/>
            <a:ext cx="343822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Cloud Run min=0 — idle otimizado</a:t>
            </a:r>
            <a:endParaRPr lang="en-US" sz="1200" dirty="0"/>
          </a:p>
        </p:txBody>
      </p:sp>
      <p:sp>
        <p:nvSpPr>
          <p:cNvPr id="41" name="SK-2-text-40"/>
          <p:cNvSpPr/>
          <p:nvPr/>
        </p:nvSpPr>
        <p:spPr>
          <a:xfrm>
            <a:off x="8753773" y="4375398"/>
            <a:ext cx="343822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Ambiente compartilhado de gestão</a:t>
            </a:r>
            <a:endParaRPr lang="en-US" sz="1200" dirty="0"/>
          </a:p>
        </p:txBody>
      </p:sp>
      <p:sp>
        <p:nvSpPr>
          <p:cNvPr id="42" name="SK-2-text-41"/>
          <p:cNvSpPr/>
          <p:nvPr/>
        </p:nvSpPr>
        <p:spPr>
          <a:xfrm>
            <a:off x="8753773" y="4635996"/>
            <a:ext cx="3438227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Dev e produção separados</a:t>
            </a:r>
            <a:endParaRPr lang="en-US" sz="1200" dirty="0"/>
          </a:p>
        </p:txBody>
      </p:sp>
      <p:sp>
        <p:nvSpPr>
          <p:cNvPr id="43" name="SK-2-text-42"/>
          <p:cNvSpPr/>
          <p:nvPr/>
        </p:nvSpPr>
        <p:spPr>
          <a:xfrm>
            <a:off x="9338965" y="5143500"/>
            <a:ext cx="2853035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 / mês</a:t>
            </a:r>
            <a:endParaRPr lang="en-US" sz="2025" dirty="0"/>
          </a:p>
        </p:txBody>
      </p:sp>
      <p:sp>
        <p:nvSpPr>
          <p:cNvPr id="44" name="SK-2-text-43"/>
          <p:cNvSpPr/>
          <p:nvPr/>
        </p:nvSpPr>
        <p:spPr>
          <a:xfrm>
            <a:off x="9217075" y="5541169"/>
            <a:ext cx="2974925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compartilhada</a:t>
            </a:r>
            <a:endParaRPr lang="en-US" sz="975" dirty="0"/>
          </a:p>
        </p:txBody>
      </p:sp>
      <p:sp>
        <p:nvSpPr>
          <p:cNvPr id="45" name="SK-2-text-44"/>
          <p:cNvSpPr/>
          <p:nvPr/>
        </p:nvSpPr>
        <p:spPr>
          <a:xfrm>
            <a:off x="3005138" y="6357342"/>
            <a:ext cx="8242102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DO ECOSSISTEMA R$ 3.544 / mês inclui rateio de desenvolvimento · margem de 10% aplicada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8353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773" y="0"/>
            <a:ext cx="3438079" cy="2194471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2" y="456754"/>
            <a:ext cx="658267" cy="19050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1739205"/>
            <a:ext cx="11058079" cy="1905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55" y="1962001"/>
            <a:ext cx="5474196" cy="1428452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55" y="3505051"/>
            <a:ext cx="5474196" cy="1428452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55" y="5048101"/>
            <a:ext cx="5474196" cy="1428452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761" y="1940719"/>
            <a:ext cx="5364361" cy="4478238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3184" y="3041452"/>
            <a:ext cx="1450777" cy="253603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7984" y="4577655"/>
            <a:ext cx="1145977" cy="260598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7279" y="6137821"/>
            <a:ext cx="1316682" cy="253603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6688634"/>
            <a:ext cx="3413671" cy="9525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6392" y="2064246"/>
            <a:ext cx="5144988" cy="4231332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584" y="5520630"/>
            <a:ext cx="511969" cy="45258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584" y="3950196"/>
            <a:ext cx="511969" cy="521196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584" y="2400300"/>
            <a:ext cx="511969" cy="514350"/>
          </a:xfrm>
          <a:prstGeom prst="rect">
            <a:avLst/>
          </a:prstGeom>
        </p:spPr>
      </p:pic>
      <p:sp>
        <p:nvSpPr>
          <p:cNvPr id="19" name="SK-3-text-18"/>
          <p:cNvSpPr/>
          <p:nvPr/>
        </p:nvSpPr>
        <p:spPr>
          <a:xfrm>
            <a:off x="1024086" y="370284"/>
            <a:ext cx="580929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· SLIDE 03</a:t>
            </a:r>
            <a:endParaRPr lang="en-US" sz="1425" dirty="0"/>
          </a:p>
        </p:txBody>
      </p:sp>
      <p:sp>
        <p:nvSpPr>
          <p:cNvPr id="20" name="SK-3-text-19"/>
          <p:cNvSpPr/>
          <p:nvPr/>
        </p:nvSpPr>
        <p:spPr>
          <a:xfrm>
            <a:off x="597396" y="713184"/>
            <a:ext cx="11594604" cy="5622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e Stack de Tecnologia</a:t>
            </a:r>
            <a:endParaRPr lang="en-US" sz="3825" dirty="0"/>
          </a:p>
        </p:txBody>
      </p:sp>
      <p:sp>
        <p:nvSpPr>
          <p:cNvPr id="21" name="SK-3-text-20"/>
          <p:cNvSpPr/>
          <p:nvPr/>
        </p:nvSpPr>
        <p:spPr>
          <a:xfrm>
            <a:off x="597396" y="1289298"/>
            <a:ext cx="11594604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· Cloud Run · DeepSeek LLM</a:t>
            </a:r>
            <a:endParaRPr lang="en-US" sz="2400" dirty="0"/>
          </a:p>
        </p:txBody>
      </p:sp>
      <p:sp>
        <p:nvSpPr>
          <p:cNvPr id="22" name="SK-3-text-21"/>
          <p:cNvSpPr/>
          <p:nvPr/>
        </p:nvSpPr>
        <p:spPr>
          <a:xfrm>
            <a:off x="1597075" y="2057400"/>
            <a:ext cx="4550092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Processamento</a:t>
            </a:r>
            <a:endParaRPr lang="en-US" sz="1275" dirty="0"/>
          </a:p>
        </p:txBody>
      </p:sp>
      <p:sp>
        <p:nvSpPr>
          <p:cNvPr id="23" name="SK-3-text-22"/>
          <p:cNvSpPr/>
          <p:nvPr/>
        </p:nvSpPr>
        <p:spPr>
          <a:xfrm>
            <a:off x="1609279" y="2276773"/>
            <a:ext cx="418052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Run Workers</a:t>
            </a:r>
            <a:endParaRPr lang="en-US" sz="1575" dirty="0"/>
          </a:p>
        </p:txBody>
      </p:sp>
      <p:sp>
        <p:nvSpPr>
          <p:cNvPr id="24" name="SK-3-text-23"/>
          <p:cNvSpPr/>
          <p:nvPr/>
        </p:nvSpPr>
        <p:spPr>
          <a:xfrm>
            <a:off x="1597075" y="2557909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vCPU · 4 GB RAM</a:t>
            </a:r>
            <a:endParaRPr lang="en-US" sz="1200" dirty="0"/>
          </a:p>
        </p:txBody>
      </p:sp>
      <p:sp>
        <p:nvSpPr>
          <p:cNvPr id="25" name="SK-3-text-24"/>
          <p:cNvSpPr/>
          <p:nvPr/>
        </p:nvSpPr>
        <p:spPr>
          <a:xfrm>
            <a:off x="1597075" y="2743200"/>
            <a:ext cx="52578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Auto-scaling: min=0 → max=4</a:t>
            </a:r>
            <a:endParaRPr lang="en-US" sz="1200" dirty="0"/>
          </a:p>
        </p:txBody>
      </p:sp>
      <p:sp>
        <p:nvSpPr>
          <p:cNvPr id="26" name="SK-3-text-25"/>
          <p:cNvSpPr/>
          <p:nvPr/>
        </p:nvSpPr>
        <p:spPr>
          <a:xfrm>
            <a:off x="1609279" y="2928342"/>
            <a:ext cx="55016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Concorrência: 2 por instância</a:t>
            </a:r>
            <a:endParaRPr lang="en-US" sz="1200" dirty="0"/>
          </a:p>
        </p:txBody>
      </p:sp>
      <p:sp>
        <p:nvSpPr>
          <p:cNvPr id="27" name="SK-3-text-26"/>
          <p:cNvSpPr/>
          <p:nvPr/>
        </p:nvSpPr>
        <p:spPr>
          <a:xfrm>
            <a:off x="1609279" y="3106638"/>
            <a:ext cx="59893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Processamento: ~0,7 min/chamada</a:t>
            </a:r>
            <a:endParaRPr lang="en-US" sz="1200" dirty="0"/>
          </a:p>
        </p:txBody>
      </p:sp>
      <p:sp>
        <p:nvSpPr>
          <p:cNvPr id="28" name="SK-3-text-27"/>
          <p:cNvSpPr/>
          <p:nvPr/>
        </p:nvSpPr>
        <p:spPr>
          <a:xfrm>
            <a:off x="4572000" y="3086100"/>
            <a:ext cx="35052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Disponibilidade</a:t>
            </a:r>
            <a:endParaRPr lang="en-US" sz="1125" dirty="0"/>
          </a:p>
        </p:txBody>
      </p:sp>
      <p:sp>
        <p:nvSpPr>
          <p:cNvPr id="29" name="SK-3-text-28"/>
          <p:cNvSpPr/>
          <p:nvPr/>
        </p:nvSpPr>
        <p:spPr>
          <a:xfrm>
            <a:off x="1597075" y="3607296"/>
            <a:ext cx="435578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Inteligência</a:t>
            </a:r>
            <a:endParaRPr lang="en-US" sz="1275" dirty="0"/>
          </a:p>
        </p:txBody>
      </p:sp>
      <p:sp>
        <p:nvSpPr>
          <p:cNvPr id="30" name="SK-3-text-29"/>
          <p:cNvSpPr/>
          <p:nvPr/>
        </p:nvSpPr>
        <p:spPr>
          <a:xfrm>
            <a:off x="1609279" y="3819823"/>
            <a:ext cx="490061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de Linguagem</a:t>
            </a:r>
            <a:endParaRPr lang="en-US" sz="1575" dirty="0"/>
          </a:p>
        </p:txBody>
      </p:sp>
      <p:sp>
        <p:nvSpPr>
          <p:cNvPr id="31" name="SK-3-text-30"/>
          <p:cNvSpPr/>
          <p:nvPr/>
        </p:nvSpPr>
        <p:spPr>
          <a:xfrm>
            <a:off x="1609279" y="4100959"/>
            <a:ext cx="4282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LLM — primário</a:t>
            </a:r>
            <a:endParaRPr lang="en-US" sz="1200" dirty="0"/>
          </a:p>
        </p:txBody>
      </p:sp>
      <p:sp>
        <p:nvSpPr>
          <p:cNvPr id="32" name="SK-3-text-31"/>
          <p:cNvSpPr/>
          <p:nvPr/>
        </p:nvSpPr>
        <p:spPr>
          <a:xfrm>
            <a:off x="1609279" y="4286250"/>
            <a:ext cx="6233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MiniMax — fallback (5% dos casos)</a:t>
            </a:r>
            <a:endParaRPr lang="en-US" sz="1200" dirty="0"/>
          </a:p>
        </p:txBody>
      </p:sp>
      <p:sp>
        <p:nvSpPr>
          <p:cNvPr id="33" name="SK-3-text-32"/>
          <p:cNvSpPr/>
          <p:nvPr/>
        </p:nvSpPr>
        <p:spPr>
          <a:xfrm>
            <a:off x="1609279" y="4464546"/>
            <a:ext cx="6477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Base — transcrição de áudio</a:t>
            </a:r>
            <a:endParaRPr lang="en-US" sz="1200" dirty="0"/>
          </a:p>
        </p:txBody>
      </p:sp>
      <p:sp>
        <p:nvSpPr>
          <p:cNvPr id="34" name="SK-3-text-33"/>
          <p:cNvSpPr/>
          <p:nvPr/>
        </p:nvSpPr>
        <p:spPr>
          <a:xfrm>
            <a:off x="1609279" y="4649688"/>
            <a:ext cx="70866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Latência: tempo real, 0,1x velocidade</a:t>
            </a:r>
            <a:endParaRPr lang="en-US" sz="1200" dirty="0"/>
          </a:p>
        </p:txBody>
      </p:sp>
      <p:sp>
        <p:nvSpPr>
          <p:cNvPr id="35" name="SK-3-text-34"/>
          <p:cNvSpPr/>
          <p:nvPr/>
        </p:nvSpPr>
        <p:spPr>
          <a:xfrm>
            <a:off x="4901059" y="4629150"/>
            <a:ext cx="247650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Multimodelo</a:t>
            </a:r>
            <a:endParaRPr lang="en-US" sz="1125" dirty="0"/>
          </a:p>
        </p:txBody>
      </p:sp>
      <p:sp>
        <p:nvSpPr>
          <p:cNvPr id="36" name="SK-3-text-35"/>
          <p:cNvSpPr/>
          <p:nvPr/>
        </p:nvSpPr>
        <p:spPr>
          <a:xfrm>
            <a:off x="1597075" y="5150346"/>
            <a:ext cx="4938712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Dados &amp; Suporte</a:t>
            </a:r>
            <a:endParaRPr lang="en-US" sz="1275" dirty="0"/>
          </a:p>
        </p:txBody>
      </p:sp>
      <p:sp>
        <p:nvSpPr>
          <p:cNvPr id="37" name="SK-3-text-36"/>
          <p:cNvSpPr/>
          <p:nvPr/>
        </p:nvSpPr>
        <p:spPr>
          <a:xfrm>
            <a:off x="1609279" y="5369719"/>
            <a:ext cx="514064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Persistência e DevOps</a:t>
            </a:r>
            <a:endParaRPr lang="en-US" sz="1575" dirty="0"/>
          </a:p>
        </p:txBody>
      </p:sp>
      <p:sp>
        <p:nvSpPr>
          <p:cNvPr id="38" name="SK-3-text-37"/>
          <p:cNvSpPr/>
          <p:nvPr/>
        </p:nvSpPr>
        <p:spPr>
          <a:xfrm>
            <a:off x="1609279" y="5644009"/>
            <a:ext cx="46482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 · Cloud Storage</a:t>
            </a:r>
            <a:endParaRPr lang="en-US" sz="1200" dirty="0"/>
          </a:p>
        </p:txBody>
      </p:sp>
      <p:sp>
        <p:nvSpPr>
          <p:cNvPr id="39" name="SK-3-text-38"/>
          <p:cNvSpPr/>
          <p:nvPr/>
        </p:nvSpPr>
        <p:spPr>
          <a:xfrm>
            <a:off x="1609279" y="5836146"/>
            <a:ext cx="4282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PubSub · Secret Manager</a:t>
            </a:r>
            <a:endParaRPr lang="en-US" sz="1200" dirty="0"/>
          </a:p>
        </p:txBody>
      </p:sp>
      <p:sp>
        <p:nvSpPr>
          <p:cNvPr id="40" name="SK-3-text-39"/>
          <p:cNvSpPr/>
          <p:nvPr/>
        </p:nvSpPr>
        <p:spPr>
          <a:xfrm>
            <a:off x="1609279" y="6014442"/>
            <a:ext cx="574548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Build · Artifact Registry</a:t>
            </a:r>
            <a:endParaRPr lang="en-US" sz="1200" dirty="0"/>
          </a:p>
        </p:txBody>
      </p:sp>
      <p:sp>
        <p:nvSpPr>
          <p:cNvPr id="41" name="SK-3-text-40"/>
          <p:cNvSpPr/>
          <p:nvPr/>
        </p:nvSpPr>
        <p:spPr>
          <a:xfrm>
            <a:off x="1609279" y="6199584"/>
            <a:ext cx="611124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Estático · Backups automáticos</a:t>
            </a:r>
            <a:endParaRPr lang="en-US" sz="1200" dirty="0"/>
          </a:p>
        </p:txBody>
      </p:sp>
      <p:sp>
        <p:nvSpPr>
          <p:cNvPr id="42" name="SK-3-text-41"/>
          <p:cNvSpPr/>
          <p:nvPr/>
        </p:nvSpPr>
        <p:spPr>
          <a:xfrm>
            <a:off x="4730353" y="6172200"/>
            <a:ext cx="2819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Nativa</a:t>
            </a:r>
            <a:endParaRPr lang="en-US" sz="1125" dirty="0"/>
          </a:p>
        </p:txBody>
      </p:sp>
      <p:sp>
        <p:nvSpPr>
          <p:cNvPr id="43" name="SK-3-text-42"/>
          <p:cNvSpPr/>
          <p:nvPr/>
        </p:nvSpPr>
        <p:spPr>
          <a:xfrm>
            <a:off x="4876800" y="6624786"/>
            <a:ext cx="631698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— Uso Restrito a Investidores</a:t>
            </a:r>
            <a:endParaRPr lang="en-US" sz="975" dirty="0"/>
          </a:p>
        </p:txBody>
      </p:sp>
      <p:sp>
        <p:nvSpPr>
          <p:cNvPr id="44" name="SK-3-text-43"/>
          <p:cNvSpPr/>
          <p:nvPr/>
        </p:nvSpPr>
        <p:spPr>
          <a:xfrm>
            <a:off x="11314063" y="6631632"/>
            <a:ext cx="877937" cy="1233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10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0"/>
            <a:ext cx="4267200" cy="1782961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75" y="370284"/>
            <a:ext cx="670471" cy="281136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78198"/>
            <a:ext cx="12192000" cy="95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3195786"/>
            <a:ext cx="2548086" cy="1961257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486" y="3195786"/>
            <a:ext cx="2548086" cy="1961257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2298" y="3195786"/>
            <a:ext cx="2548086" cy="1995636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1961" y="3195786"/>
            <a:ext cx="2548086" cy="1995636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675" y="5513784"/>
            <a:ext cx="10826353" cy="713184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510338"/>
            <a:ext cx="12192000" cy="9525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086" y="5685234"/>
            <a:ext cx="219373" cy="329059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777" y="3332857"/>
            <a:ext cx="353467" cy="301675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9780" y="3332857"/>
            <a:ext cx="365671" cy="301675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4377" y="3298627"/>
            <a:ext cx="353467" cy="335905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157" y="3298627"/>
            <a:ext cx="341263" cy="335905"/>
          </a:xfrm>
          <a:prstGeom prst="rect">
            <a:avLst/>
          </a:prstGeom>
        </p:spPr>
      </p:pic>
      <p:sp>
        <p:nvSpPr>
          <p:cNvPr id="17" name="SK-4-text-16"/>
          <p:cNvSpPr/>
          <p:nvPr/>
        </p:nvSpPr>
        <p:spPr>
          <a:xfrm>
            <a:off x="696069" y="418207"/>
            <a:ext cx="71690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10</a:t>
            </a:r>
            <a:endParaRPr lang="en-US" sz="1500" dirty="0"/>
          </a:p>
        </p:txBody>
      </p:sp>
      <p:sp>
        <p:nvSpPr>
          <p:cNvPr id="18" name="SK-4-text-17"/>
          <p:cNvSpPr/>
          <p:nvPr/>
        </p:nvSpPr>
        <p:spPr>
          <a:xfrm>
            <a:off x="670471" y="747415"/>
            <a:ext cx="11521529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Operacionais Atuais</a:t>
            </a:r>
            <a:endParaRPr lang="en-US" sz="3825" dirty="0"/>
          </a:p>
        </p:txBody>
      </p:sp>
      <p:sp>
        <p:nvSpPr>
          <p:cNvPr id="19" name="SK-4-text-18"/>
          <p:cNvSpPr/>
          <p:nvPr/>
        </p:nvSpPr>
        <p:spPr>
          <a:xfrm>
            <a:off x="670471" y="1330375"/>
            <a:ext cx="11521529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real em produção — Julho 2026 · Margem de segurança 10% incluída · Câmbio: R$ 5,50/USD</a:t>
            </a:r>
            <a:endParaRPr lang="en-US" sz="1725" dirty="0"/>
          </a:p>
        </p:txBody>
      </p:sp>
      <p:sp>
        <p:nvSpPr>
          <p:cNvPr id="20" name="SK-4-text-19"/>
          <p:cNvSpPr/>
          <p:nvPr/>
        </p:nvSpPr>
        <p:spPr>
          <a:xfrm>
            <a:off x="4521845" y="2043559"/>
            <a:ext cx="3135957" cy="637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R$ 3.544</a:t>
            </a:r>
            <a:endParaRPr lang="en-US" sz="4650" dirty="0"/>
          </a:p>
        </p:txBody>
      </p:sp>
      <p:sp>
        <p:nvSpPr>
          <p:cNvPr id="21" name="SK-4-text-20"/>
          <p:cNvSpPr/>
          <p:nvPr/>
        </p:nvSpPr>
        <p:spPr>
          <a:xfrm>
            <a:off x="4402336" y="2763738"/>
            <a:ext cx="336262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mensal · ecossistema completo</a:t>
            </a:r>
            <a:endParaRPr lang="en-US" sz="1500" dirty="0"/>
          </a:p>
        </p:txBody>
      </p:sp>
      <p:sp>
        <p:nvSpPr>
          <p:cNvPr id="22" name="SK-4-text-21"/>
          <p:cNvSpPr/>
          <p:nvPr/>
        </p:nvSpPr>
        <p:spPr>
          <a:xfrm>
            <a:off x="1182588" y="3394621"/>
            <a:ext cx="367665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 DE CHAMADAS</a:t>
            </a:r>
            <a:endParaRPr lang="en-US" sz="1125" dirty="0"/>
          </a:p>
        </p:txBody>
      </p:sp>
      <p:sp>
        <p:nvSpPr>
          <p:cNvPr id="23" name="SK-4-text-22"/>
          <p:cNvSpPr/>
          <p:nvPr/>
        </p:nvSpPr>
        <p:spPr>
          <a:xfrm>
            <a:off x="1381125" y="3806130"/>
            <a:ext cx="113898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BD3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</a:t>
            </a:r>
            <a:endParaRPr lang="en-US" sz="1425" dirty="0"/>
          </a:p>
        </p:txBody>
      </p:sp>
      <p:sp>
        <p:nvSpPr>
          <p:cNvPr id="24" name="SK-4-text-23"/>
          <p:cNvSpPr/>
          <p:nvPr/>
        </p:nvSpPr>
        <p:spPr>
          <a:xfrm>
            <a:off x="1145828" y="4094113"/>
            <a:ext cx="1633835" cy="4182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0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R$ 595</a:t>
            </a:r>
            <a:endParaRPr lang="en-US" sz="3075" dirty="0"/>
          </a:p>
        </p:txBody>
      </p:sp>
      <p:sp>
        <p:nvSpPr>
          <p:cNvPr id="25" name="SK-4-text-24"/>
          <p:cNvSpPr/>
          <p:nvPr/>
        </p:nvSpPr>
        <p:spPr>
          <a:xfrm>
            <a:off x="1037332" y="4581079"/>
            <a:ext cx="183862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· LLM · Infra</a:t>
            </a:r>
            <a:endParaRPr lang="en-US" sz="1500" dirty="0"/>
          </a:p>
        </p:txBody>
      </p:sp>
      <p:sp>
        <p:nvSpPr>
          <p:cNvPr id="26" name="SK-4-text-25"/>
          <p:cNvSpPr/>
          <p:nvPr/>
        </p:nvSpPr>
        <p:spPr>
          <a:xfrm>
            <a:off x="975271" y="4917132"/>
            <a:ext cx="8191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17%</a:t>
            </a:r>
            <a:endParaRPr lang="en-US" sz="1125" dirty="0"/>
          </a:p>
        </p:txBody>
      </p:sp>
      <p:sp>
        <p:nvSpPr>
          <p:cNvPr id="27" name="SK-4-text-26"/>
          <p:cNvSpPr/>
          <p:nvPr/>
        </p:nvSpPr>
        <p:spPr>
          <a:xfrm>
            <a:off x="4011067" y="3401467"/>
            <a:ext cx="2647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AGENTE</a:t>
            </a:r>
            <a:endParaRPr lang="en-US" sz="1125" dirty="0"/>
          </a:p>
        </p:txBody>
      </p:sp>
      <p:sp>
        <p:nvSpPr>
          <p:cNvPr id="28" name="SK-4-text-27"/>
          <p:cNvSpPr/>
          <p:nvPr/>
        </p:nvSpPr>
        <p:spPr>
          <a:xfrm>
            <a:off x="4136529" y="3806130"/>
            <a:ext cx="113898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BD3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425" dirty="0"/>
          </a:p>
        </p:txBody>
      </p:sp>
      <p:sp>
        <p:nvSpPr>
          <p:cNvPr id="29" name="SK-4-text-28"/>
          <p:cNvSpPr/>
          <p:nvPr/>
        </p:nvSpPr>
        <p:spPr>
          <a:xfrm>
            <a:off x="3937843" y="4094113"/>
            <a:ext cx="1560761" cy="4182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0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R$ 157</a:t>
            </a:r>
            <a:endParaRPr lang="en-US" sz="3075" dirty="0"/>
          </a:p>
        </p:txBody>
      </p:sp>
      <p:sp>
        <p:nvSpPr>
          <p:cNvPr id="30" name="SK-4-text-29"/>
          <p:cNvSpPr/>
          <p:nvPr/>
        </p:nvSpPr>
        <p:spPr>
          <a:xfrm>
            <a:off x="3865959" y="4581079"/>
            <a:ext cx="168012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· Firestore · IP</a:t>
            </a:r>
            <a:endParaRPr lang="en-US" sz="1500" dirty="0"/>
          </a:p>
        </p:txBody>
      </p:sp>
      <p:sp>
        <p:nvSpPr>
          <p:cNvPr id="31" name="SK-4-text-30"/>
          <p:cNvSpPr/>
          <p:nvPr/>
        </p:nvSpPr>
        <p:spPr>
          <a:xfrm>
            <a:off x="3755082" y="4917132"/>
            <a:ext cx="53340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1125" dirty="0"/>
          </a:p>
        </p:txBody>
      </p:sp>
      <p:sp>
        <p:nvSpPr>
          <p:cNvPr id="32" name="SK-4-text-31"/>
          <p:cNvSpPr/>
          <p:nvPr/>
        </p:nvSpPr>
        <p:spPr>
          <a:xfrm>
            <a:off x="6790879" y="3401467"/>
            <a:ext cx="2819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COHERENCE</a:t>
            </a:r>
            <a:endParaRPr lang="en-US" sz="1125" dirty="0"/>
          </a:p>
        </p:txBody>
      </p:sp>
      <p:sp>
        <p:nvSpPr>
          <p:cNvPr id="33" name="SK-4-text-32"/>
          <p:cNvSpPr/>
          <p:nvPr/>
        </p:nvSpPr>
        <p:spPr>
          <a:xfrm>
            <a:off x="7050435" y="3806130"/>
            <a:ext cx="82197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BD3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</a:t>
            </a:r>
            <a:endParaRPr lang="en-US" sz="1425" dirty="0"/>
          </a:p>
        </p:txBody>
      </p:sp>
      <p:sp>
        <p:nvSpPr>
          <p:cNvPr id="34" name="SK-4-text-33"/>
          <p:cNvSpPr/>
          <p:nvPr/>
        </p:nvSpPr>
        <p:spPr>
          <a:xfrm>
            <a:off x="6778526" y="4087267"/>
            <a:ext cx="1377851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0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</a:t>
            </a:r>
            <a:endParaRPr lang="en-US" sz="3075" dirty="0"/>
          </a:p>
        </p:txBody>
      </p:sp>
      <p:sp>
        <p:nvSpPr>
          <p:cNvPr id="35" name="SK-4-text-34"/>
          <p:cNvSpPr/>
          <p:nvPr/>
        </p:nvSpPr>
        <p:spPr>
          <a:xfrm>
            <a:off x="6706642" y="4581079"/>
            <a:ext cx="153382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Run · Dev</a:t>
            </a:r>
            <a:endParaRPr lang="en-US" sz="1500" dirty="0"/>
          </a:p>
        </p:txBody>
      </p:sp>
      <p:sp>
        <p:nvSpPr>
          <p:cNvPr id="36" name="SK-4-text-35"/>
          <p:cNvSpPr/>
          <p:nvPr/>
        </p:nvSpPr>
        <p:spPr>
          <a:xfrm>
            <a:off x="6425059" y="4917132"/>
            <a:ext cx="53340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1%</a:t>
            </a:r>
            <a:endParaRPr lang="en-US" sz="1125" dirty="0"/>
          </a:p>
        </p:txBody>
      </p:sp>
      <p:sp>
        <p:nvSpPr>
          <p:cNvPr id="37" name="SK-4-text-36"/>
          <p:cNvSpPr/>
          <p:nvPr/>
        </p:nvSpPr>
        <p:spPr>
          <a:xfrm>
            <a:off x="9473059" y="3401467"/>
            <a:ext cx="2718941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RATEIO DESENVOLVIMENTO</a:t>
            </a:r>
            <a:endParaRPr lang="en-US" sz="1125" dirty="0"/>
          </a:p>
        </p:txBody>
      </p:sp>
      <p:sp>
        <p:nvSpPr>
          <p:cNvPr id="38" name="SK-4-text-37"/>
          <p:cNvSpPr/>
          <p:nvPr/>
        </p:nvSpPr>
        <p:spPr>
          <a:xfrm>
            <a:off x="9281517" y="3806130"/>
            <a:ext cx="18704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BD3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</a:t>
            </a:r>
            <a:endParaRPr lang="en-US" sz="1425" dirty="0"/>
          </a:p>
        </p:txBody>
      </p:sp>
      <p:sp>
        <p:nvSpPr>
          <p:cNvPr id="39" name="SK-4-text-38"/>
          <p:cNvSpPr/>
          <p:nvPr/>
        </p:nvSpPr>
        <p:spPr>
          <a:xfrm>
            <a:off x="9229130" y="4087267"/>
            <a:ext cx="1987451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0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R$ 2.750</a:t>
            </a:r>
            <a:endParaRPr lang="en-US" sz="3075" dirty="0"/>
          </a:p>
        </p:txBody>
      </p:sp>
      <p:sp>
        <p:nvSpPr>
          <p:cNvPr id="40" name="SK-4-text-39"/>
          <p:cNvSpPr/>
          <p:nvPr/>
        </p:nvSpPr>
        <p:spPr>
          <a:xfrm>
            <a:off x="9169450" y="4581079"/>
            <a:ext cx="210681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R$ 33.000 ÷ 12 meses</a:t>
            </a:r>
            <a:endParaRPr lang="en-US" sz="1500" dirty="0"/>
          </a:p>
        </p:txBody>
      </p:sp>
      <p:sp>
        <p:nvSpPr>
          <p:cNvPr id="41" name="SK-4-text-40"/>
          <p:cNvSpPr/>
          <p:nvPr/>
        </p:nvSpPr>
        <p:spPr>
          <a:xfrm>
            <a:off x="10533757" y="4910286"/>
            <a:ext cx="81915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1125" dirty="0"/>
          </a:p>
        </p:txBody>
      </p:sp>
      <p:sp>
        <p:nvSpPr>
          <p:cNvPr id="42" name="SK-4-text-41"/>
          <p:cNvSpPr/>
          <p:nvPr/>
        </p:nvSpPr>
        <p:spPr>
          <a:xfrm>
            <a:off x="1353294" y="5726311"/>
            <a:ext cx="10838706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D3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real: apenas R$ 794/mês</a:t>
            </a:r>
            <a:endParaRPr lang="en-US" sz="1875" dirty="0"/>
          </a:p>
        </p:txBody>
      </p:sp>
      <p:sp>
        <p:nvSpPr>
          <p:cNvPr id="43" name="SK-4-text-42"/>
          <p:cNvSpPr/>
          <p:nvPr/>
        </p:nvSpPr>
        <p:spPr>
          <a:xfrm>
            <a:off x="6242298" y="5630317"/>
            <a:ext cx="4864596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rateio de desenvolvimento representa 78% do custo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— amortizado ao longo de 12 meses do projeto.</a:t>
            </a:r>
            <a:endParaRPr lang="en-US" sz="1500" dirty="0"/>
          </a:p>
        </p:txBody>
      </p:sp>
      <p:sp>
        <p:nvSpPr>
          <p:cNvPr id="44" name="SK-4-text-43"/>
          <p:cNvSpPr/>
          <p:nvPr/>
        </p:nvSpPr>
        <p:spPr>
          <a:xfrm>
            <a:off x="658267" y="6604248"/>
            <a:ext cx="775716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— Uso Restrito a Investidores</a:t>
            </a:r>
            <a:endParaRPr lang="en-US" sz="1200" dirty="0"/>
          </a:p>
        </p:txBody>
      </p:sp>
      <p:sp>
        <p:nvSpPr>
          <p:cNvPr id="45" name="SK-4-text-44"/>
          <p:cNvSpPr/>
          <p:nvPr/>
        </p:nvSpPr>
        <p:spPr>
          <a:xfrm>
            <a:off x="5984677" y="6604248"/>
            <a:ext cx="746671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3" y="123379"/>
            <a:ext cx="792361" cy="356592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094" y="720030"/>
            <a:ext cx="3852565" cy="438894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84" y="1803648"/>
            <a:ext cx="2730996" cy="3929509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353" y="1803648"/>
            <a:ext cx="2730996" cy="394335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271" y="1803648"/>
            <a:ext cx="2730996" cy="3929509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6369" y="3861048"/>
            <a:ext cx="1779984" cy="281136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6682" y="5335488"/>
            <a:ext cx="2035969" cy="287982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90" y="6000750"/>
            <a:ext cx="11948071" cy="493663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469678"/>
            <a:ext cx="12192000" cy="9525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290" y="6117282"/>
            <a:ext cx="255984" cy="253603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5984" y="822871"/>
            <a:ext cx="219373" cy="212527"/>
          </a:xfrm>
          <a:prstGeom prst="rect">
            <a:avLst/>
          </a:prstGeom>
        </p:spPr>
      </p:pic>
      <p:sp>
        <p:nvSpPr>
          <p:cNvPr id="14" name="SK-5-text-13"/>
          <p:cNvSpPr/>
          <p:nvPr/>
        </p:nvSpPr>
        <p:spPr>
          <a:xfrm>
            <a:off x="329059" y="212527"/>
            <a:ext cx="230505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10</a:t>
            </a:r>
            <a:endParaRPr lang="en-US" sz="1500" dirty="0"/>
          </a:p>
        </p:txBody>
      </p:sp>
      <p:sp>
        <p:nvSpPr>
          <p:cNvPr id="15" name="SK-5-text-14"/>
          <p:cNvSpPr/>
          <p:nvPr/>
        </p:nvSpPr>
        <p:spPr>
          <a:xfrm>
            <a:off x="511969" y="575965"/>
            <a:ext cx="9765030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Projeções de Escala</a:t>
            </a:r>
            <a:endParaRPr lang="en-US" sz="3300" dirty="0"/>
          </a:p>
        </p:txBody>
      </p:sp>
      <p:sp>
        <p:nvSpPr>
          <p:cNvPr id="16" name="SK-5-text-15"/>
          <p:cNvSpPr/>
          <p:nvPr/>
        </p:nvSpPr>
        <p:spPr>
          <a:xfrm>
            <a:off x="524173" y="1056084"/>
            <a:ext cx="11667827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→ 1.000 → 5.000 Chamadas / Dia</a:t>
            </a:r>
            <a:endParaRPr lang="en-US" sz="2250" dirty="0"/>
          </a:p>
        </p:txBody>
      </p:sp>
      <p:sp>
        <p:nvSpPr>
          <p:cNvPr id="17" name="SK-5-text-16"/>
          <p:cNvSpPr/>
          <p:nvPr/>
        </p:nvSpPr>
        <p:spPr>
          <a:xfrm>
            <a:off x="8131969" y="822871"/>
            <a:ext cx="4060031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Custo por chamada cai 8× com escala</a:t>
            </a:r>
            <a:endParaRPr lang="en-US" sz="1350" dirty="0"/>
          </a:p>
        </p:txBody>
      </p:sp>
      <p:sp>
        <p:nvSpPr>
          <p:cNvPr id="18" name="SK-5-text-17"/>
          <p:cNvSpPr/>
          <p:nvPr/>
        </p:nvSpPr>
        <p:spPr>
          <a:xfrm>
            <a:off x="1536055" y="1968103"/>
            <a:ext cx="317182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INICIAL</a:t>
            </a:r>
            <a:endParaRPr lang="en-US" sz="1350" dirty="0"/>
          </a:p>
        </p:txBody>
      </p:sp>
      <p:sp>
        <p:nvSpPr>
          <p:cNvPr id="19" name="SK-5-text-18"/>
          <p:cNvSpPr/>
          <p:nvPr/>
        </p:nvSpPr>
        <p:spPr>
          <a:xfrm>
            <a:off x="1816596" y="2249388"/>
            <a:ext cx="278606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3375" dirty="0"/>
          </a:p>
        </p:txBody>
      </p:sp>
      <p:sp>
        <p:nvSpPr>
          <p:cNvPr id="20" name="SK-5-text-19"/>
          <p:cNvSpPr/>
          <p:nvPr/>
        </p:nvSpPr>
        <p:spPr>
          <a:xfrm>
            <a:off x="1658094" y="2674590"/>
            <a:ext cx="28013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 / dia</a:t>
            </a:r>
            <a:endParaRPr lang="en-US" sz="1275" dirty="0"/>
          </a:p>
        </p:txBody>
      </p:sp>
      <p:sp>
        <p:nvSpPr>
          <p:cNvPr id="21" name="SK-5-text-20"/>
          <p:cNvSpPr/>
          <p:nvPr/>
        </p:nvSpPr>
        <p:spPr>
          <a:xfrm>
            <a:off x="1499592" y="3182094"/>
            <a:ext cx="33842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</a:t>
            </a:r>
            <a:endParaRPr lang="en-US" sz="1275" dirty="0"/>
          </a:p>
        </p:txBody>
      </p:sp>
      <p:sp>
        <p:nvSpPr>
          <p:cNvPr id="22" name="SK-5-text-21"/>
          <p:cNvSpPr/>
          <p:nvPr/>
        </p:nvSpPr>
        <p:spPr>
          <a:xfrm>
            <a:off x="1365498" y="3415159"/>
            <a:ext cx="4735830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R$ 0,24</a:t>
            </a:r>
            <a:endParaRPr lang="en-US" sz="3300" dirty="0"/>
          </a:p>
        </p:txBody>
      </p:sp>
      <p:sp>
        <p:nvSpPr>
          <p:cNvPr id="23" name="SK-5-text-22"/>
          <p:cNvSpPr/>
          <p:nvPr/>
        </p:nvSpPr>
        <p:spPr>
          <a:xfrm>
            <a:off x="1145977" y="4361557"/>
            <a:ext cx="182975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</a:t>
            </a:r>
            <a:endParaRPr lang="en-US" sz="1275" dirty="0"/>
          </a:p>
        </p:txBody>
      </p:sp>
      <p:sp>
        <p:nvSpPr>
          <p:cNvPr id="24" name="SK-5-text-23"/>
          <p:cNvSpPr/>
          <p:nvPr/>
        </p:nvSpPr>
        <p:spPr>
          <a:xfrm>
            <a:off x="2633365" y="4361557"/>
            <a:ext cx="21536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R$ 2.976</a:t>
            </a:r>
            <a:endParaRPr lang="en-US" sz="1275" dirty="0"/>
          </a:p>
        </p:txBody>
      </p:sp>
      <p:sp>
        <p:nvSpPr>
          <p:cNvPr id="25" name="SK-5-text-24"/>
          <p:cNvSpPr/>
          <p:nvPr/>
        </p:nvSpPr>
        <p:spPr>
          <a:xfrm>
            <a:off x="1145977" y="4622155"/>
            <a:ext cx="35137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(5 bots)</a:t>
            </a:r>
            <a:endParaRPr lang="en-US" sz="1275" dirty="0"/>
          </a:p>
        </p:txBody>
      </p:sp>
      <p:sp>
        <p:nvSpPr>
          <p:cNvPr id="26" name="SK-5-text-25"/>
          <p:cNvSpPr/>
          <p:nvPr/>
        </p:nvSpPr>
        <p:spPr>
          <a:xfrm>
            <a:off x="2767459" y="4629150"/>
            <a:ext cx="1635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R$ 550</a:t>
            </a:r>
            <a:endParaRPr lang="en-US" sz="1275" dirty="0"/>
          </a:p>
        </p:txBody>
      </p:sp>
      <p:sp>
        <p:nvSpPr>
          <p:cNvPr id="27" name="SK-5-text-26"/>
          <p:cNvSpPr/>
          <p:nvPr/>
        </p:nvSpPr>
        <p:spPr>
          <a:xfrm>
            <a:off x="1158180" y="4978896"/>
            <a:ext cx="221837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/ mês</a:t>
            </a:r>
            <a:endParaRPr lang="en-US" sz="1275" dirty="0"/>
          </a:p>
        </p:txBody>
      </p:sp>
      <p:sp>
        <p:nvSpPr>
          <p:cNvPr id="28" name="SK-5-text-27"/>
          <p:cNvSpPr/>
          <p:nvPr/>
        </p:nvSpPr>
        <p:spPr>
          <a:xfrm>
            <a:off x="2584698" y="4978896"/>
            <a:ext cx="215360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R$ 3.526</a:t>
            </a:r>
            <a:endParaRPr lang="en-US" sz="1275" dirty="0"/>
          </a:p>
        </p:txBody>
      </p:sp>
      <p:sp>
        <p:nvSpPr>
          <p:cNvPr id="29" name="SK-5-text-28"/>
          <p:cNvSpPr/>
          <p:nvPr/>
        </p:nvSpPr>
        <p:spPr>
          <a:xfrm>
            <a:off x="1499592" y="5390257"/>
            <a:ext cx="390525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15.000 chamadas/mês</a:t>
            </a:r>
            <a:endParaRPr lang="en-US" sz="1125" dirty="0"/>
          </a:p>
        </p:txBody>
      </p:sp>
      <p:sp>
        <p:nvSpPr>
          <p:cNvPr id="30" name="SK-5-text-29"/>
          <p:cNvSpPr/>
          <p:nvPr/>
        </p:nvSpPr>
        <p:spPr>
          <a:xfrm>
            <a:off x="5474196" y="1981944"/>
            <a:ext cx="234886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B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endParaRPr lang="en-US" sz="1350" dirty="0"/>
          </a:p>
        </p:txBody>
      </p:sp>
      <p:sp>
        <p:nvSpPr>
          <p:cNvPr id="31" name="SK-5-text-30"/>
          <p:cNvSpPr/>
          <p:nvPr/>
        </p:nvSpPr>
        <p:spPr>
          <a:xfrm>
            <a:off x="5498455" y="2249388"/>
            <a:ext cx="415766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</a:t>
            </a:r>
            <a:endParaRPr lang="en-US" sz="3375" dirty="0"/>
          </a:p>
        </p:txBody>
      </p:sp>
      <p:sp>
        <p:nvSpPr>
          <p:cNvPr id="32" name="SK-5-text-31"/>
          <p:cNvSpPr/>
          <p:nvPr/>
        </p:nvSpPr>
        <p:spPr>
          <a:xfrm>
            <a:off x="5510659" y="2674590"/>
            <a:ext cx="28013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 / dia</a:t>
            </a:r>
            <a:endParaRPr lang="en-US" sz="1275" dirty="0"/>
          </a:p>
        </p:txBody>
      </p:sp>
      <p:sp>
        <p:nvSpPr>
          <p:cNvPr id="33" name="SK-5-text-32"/>
          <p:cNvSpPr/>
          <p:nvPr/>
        </p:nvSpPr>
        <p:spPr>
          <a:xfrm>
            <a:off x="5108377" y="3182094"/>
            <a:ext cx="33842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</a:t>
            </a:r>
            <a:endParaRPr lang="en-US" sz="1275" dirty="0"/>
          </a:p>
        </p:txBody>
      </p:sp>
      <p:sp>
        <p:nvSpPr>
          <p:cNvPr id="34" name="SK-5-text-33"/>
          <p:cNvSpPr/>
          <p:nvPr/>
        </p:nvSpPr>
        <p:spPr>
          <a:xfrm>
            <a:off x="5120580" y="3429000"/>
            <a:ext cx="5741670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R$ 0,12</a:t>
            </a:r>
            <a:endParaRPr lang="en-US" sz="3300" dirty="0"/>
          </a:p>
        </p:txBody>
      </p:sp>
      <p:sp>
        <p:nvSpPr>
          <p:cNvPr id="35" name="SK-5-text-34"/>
          <p:cNvSpPr/>
          <p:nvPr/>
        </p:nvSpPr>
        <p:spPr>
          <a:xfrm>
            <a:off x="4998690" y="4361557"/>
            <a:ext cx="182975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</a:t>
            </a:r>
            <a:endParaRPr lang="en-US" sz="1275" dirty="0"/>
          </a:p>
        </p:txBody>
      </p:sp>
      <p:sp>
        <p:nvSpPr>
          <p:cNvPr id="36" name="SK-5-text-35"/>
          <p:cNvSpPr/>
          <p:nvPr/>
        </p:nvSpPr>
        <p:spPr>
          <a:xfrm>
            <a:off x="6486079" y="4361557"/>
            <a:ext cx="21536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R$ 3.122</a:t>
            </a:r>
            <a:endParaRPr lang="en-US" sz="1275" dirty="0"/>
          </a:p>
        </p:txBody>
      </p:sp>
      <p:sp>
        <p:nvSpPr>
          <p:cNvPr id="37" name="SK-5-text-36"/>
          <p:cNvSpPr/>
          <p:nvPr/>
        </p:nvSpPr>
        <p:spPr>
          <a:xfrm>
            <a:off x="4998690" y="4622155"/>
            <a:ext cx="35137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(5 bots)</a:t>
            </a:r>
            <a:endParaRPr lang="en-US" sz="1275" dirty="0"/>
          </a:p>
        </p:txBody>
      </p:sp>
      <p:sp>
        <p:nvSpPr>
          <p:cNvPr id="38" name="SK-5-text-37"/>
          <p:cNvSpPr/>
          <p:nvPr/>
        </p:nvSpPr>
        <p:spPr>
          <a:xfrm>
            <a:off x="6607969" y="4629150"/>
            <a:ext cx="1635442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R$ 550</a:t>
            </a:r>
            <a:endParaRPr lang="en-US" sz="1275" dirty="0"/>
          </a:p>
        </p:txBody>
      </p:sp>
      <p:sp>
        <p:nvSpPr>
          <p:cNvPr id="39" name="SK-5-text-38"/>
          <p:cNvSpPr/>
          <p:nvPr/>
        </p:nvSpPr>
        <p:spPr>
          <a:xfrm>
            <a:off x="4998690" y="4978896"/>
            <a:ext cx="221837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/ mês</a:t>
            </a:r>
            <a:endParaRPr lang="en-US" sz="1275" dirty="0"/>
          </a:p>
        </p:txBody>
      </p:sp>
      <p:sp>
        <p:nvSpPr>
          <p:cNvPr id="40" name="SK-5-text-39"/>
          <p:cNvSpPr/>
          <p:nvPr/>
        </p:nvSpPr>
        <p:spPr>
          <a:xfrm>
            <a:off x="6437263" y="4978896"/>
            <a:ext cx="215360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B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R$ 3.672</a:t>
            </a:r>
            <a:endParaRPr lang="en-US" sz="1275" dirty="0"/>
          </a:p>
        </p:txBody>
      </p:sp>
      <p:sp>
        <p:nvSpPr>
          <p:cNvPr id="41" name="SK-5-text-40"/>
          <p:cNvSpPr/>
          <p:nvPr/>
        </p:nvSpPr>
        <p:spPr>
          <a:xfrm>
            <a:off x="5327898" y="5390257"/>
            <a:ext cx="390525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30.000 chamadas/mês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9180463" y="1975098"/>
            <a:ext cx="301153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MÁXIMA ✦</a:t>
            </a:r>
            <a:endParaRPr lang="en-US" sz="1350" dirty="0"/>
          </a:p>
        </p:txBody>
      </p:sp>
      <p:sp>
        <p:nvSpPr>
          <p:cNvPr id="43" name="SK-5-text-42"/>
          <p:cNvSpPr/>
          <p:nvPr/>
        </p:nvSpPr>
        <p:spPr>
          <a:xfrm>
            <a:off x="9351169" y="2249388"/>
            <a:ext cx="2840831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</a:t>
            </a:r>
            <a:endParaRPr lang="en-US" sz="3375" dirty="0"/>
          </a:p>
        </p:txBody>
      </p:sp>
      <p:sp>
        <p:nvSpPr>
          <p:cNvPr id="44" name="SK-5-text-43"/>
          <p:cNvSpPr/>
          <p:nvPr/>
        </p:nvSpPr>
        <p:spPr>
          <a:xfrm>
            <a:off x="9387780" y="2681436"/>
            <a:ext cx="280130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 / dia</a:t>
            </a:r>
            <a:endParaRPr lang="en-US" sz="1275" dirty="0"/>
          </a:p>
        </p:txBody>
      </p:sp>
      <p:sp>
        <p:nvSpPr>
          <p:cNvPr id="45" name="SK-5-text-44"/>
          <p:cNvSpPr/>
          <p:nvPr/>
        </p:nvSpPr>
        <p:spPr>
          <a:xfrm>
            <a:off x="9229279" y="3099792"/>
            <a:ext cx="296272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</a:t>
            </a:r>
            <a:endParaRPr lang="en-US" sz="1275" dirty="0"/>
          </a:p>
        </p:txBody>
      </p:sp>
      <p:sp>
        <p:nvSpPr>
          <p:cNvPr id="46" name="SK-5-text-45"/>
          <p:cNvSpPr/>
          <p:nvPr/>
        </p:nvSpPr>
        <p:spPr>
          <a:xfrm>
            <a:off x="8936682" y="3346698"/>
            <a:ext cx="3255318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R$ 0,03</a:t>
            </a:r>
            <a:endParaRPr lang="en-US" sz="3300" dirty="0"/>
          </a:p>
        </p:txBody>
      </p:sp>
      <p:sp>
        <p:nvSpPr>
          <p:cNvPr id="47" name="SK-5-text-46"/>
          <p:cNvSpPr/>
          <p:nvPr/>
        </p:nvSpPr>
        <p:spPr>
          <a:xfrm>
            <a:off x="9156055" y="3922663"/>
            <a:ext cx="3035945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88% vs. cenário inicial</a:t>
            </a:r>
            <a:endParaRPr lang="en-US" sz="1125" dirty="0"/>
          </a:p>
        </p:txBody>
      </p:sp>
      <p:sp>
        <p:nvSpPr>
          <p:cNvPr id="48" name="SK-5-text-47"/>
          <p:cNvSpPr/>
          <p:nvPr/>
        </p:nvSpPr>
        <p:spPr>
          <a:xfrm>
            <a:off x="8863459" y="4361557"/>
            <a:ext cx="182975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Monitoria</a:t>
            </a:r>
            <a:endParaRPr lang="en-US" sz="1275" dirty="0"/>
          </a:p>
        </p:txBody>
      </p:sp>
      <p:sp>
        <p:nvSpPr>
          <p:cNvPr id="49" name="SK-5-text-48"/>
          <p:cNvSpPr/>
          <p:nvPr/>
        </p:nvSpPr>
        <p:spPr>
          <a:xfrm>
            <a:off x="10363200" y="4361557"/>
            <a:ext cx="18288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R$ 4.251</a:t>
            </a:r>
            <a:endParaRPr lang="en-US" sz="1275" dirty="0"/>
          </a:p>
        </p:txBody>
      </p:sp>
      <p:sp>
        <p:nvSpPr>
          <p:cNvPr id="50" name="SK-5-text-49"/>
          <p:cNvSpPr/>
          <p:nvPr/>
        </p:nvSpPr>
        <p:spPr>
          <a:xfrm>
            <a:off x="8851255" y="4622155"/>
            <a:ext cx="33407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(5 bots)</a:t>
            </a:r>
            <a:endParaRPr lang="en-US" sz="1275" dirty="0"/>
          </a:p>
        </p:txBody>
      </p:sp>
      <p:sp>
        <p:nvSpPr>
          <p:cNvPr id="51" name="SK-5-text-50"/>
          <p:cNvSpPr/>
          <p:nvPr/>
        </p:nvSpPr>
        <p:spPr>
          <a:xfrm>
            <a:off x="10460682" y="4629150"/>
            <a:ext cx="1635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R$ 550</a:t>
            </a:r>
            <a:endParaRPr lang="en-US" sz="1275" dirty="0"/>
          </a:p>
        </p:txBody>
      </p:sp>
      <p:sp>
        <p:nvSpPr>
          <p:cNvPr id="52" name="SK-5-text-51"/>
          <p:cNvSpPr/>
          <p:nvPr/>
        </p:nvSpPr>
        <p:spPr>
          <a:xfrm>
            <a:off x="8851255" y="4978896"/>
            <a:ext cx="221837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/ mês</a:t>
            </a:r>
            <a:endParaRPr lang="en-US" sz="1275" dirty="0"/>
          </a:p>
        </p:txBody>
      </p:sp>
      <p:sp>
        <p:nvSpPr>
          <p:cNvPr id="53" name="SK-5-text-52"/>
          <p:cNvSpPr/>
          <p:nvPr/>
        </p:nvSpPr>
        <p:spPr>
          <a:xfrm>
            <a:off x="10314384" y="4978896"/>
            <a:ext cx="187761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R$ 4.801</a:t>
            </a:r>
            <a:endParaRPr lang="en-US" sz="1275" dirty="0"/>
          </a:p>
        </p:txBody>
      </p:sp>
      <p:sp>
        <p:nvSpPr>
          <p:cNvPr id="54" name="SK-5-text-53"/>
          <p:cNvSpPr/>
          <p:nvPr/>
        </p:nvSpPr>
        <p:spPr>
          <a:xfrm>
            <a:off x="9156055" y="5390257"/>
            <a:ext cx="30359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150.000 chamadas/mês</a:t>
            </a:r>
            <a:endParaRPr lang="en-US" sz="1125" dirty="0"/>
          </a:p>
        </p:txBody>
      </p:sp>
      <p:sp>
        <p:nvSpPr>
          <p:cNvPr id="55" name="SK-5-text-54"/>
          <p:cNvSpPr/>
          <p:nvPr/>
        </p:nvSpPr>
        <p:spPr>
          <a:xfrm>
            <a:off x="1316682" y="6117282"/>
            <a:ext cx="10875318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Rateio de desenvolvimento (R$ 2.750/mês) permanece fixo — toda escala adicional dilui esse custo</a:t>
            </a:r>
            <a:endParaRPr lang="en-US" sz="1500" dirty="0"/>
          </a:p>
        </p:txBody>
      </p:sp>
      <p:sp>
        <p:nvSpPr>
          <p:cNvPr id="56" name="SK-5-text-55"/>
          <p:cNvSpPr/>
          <p:nvPr/>
        </p:nvSpPr>
        <p:spPr>
          <a:xfrm>
            <a:off x="280392" y="6645325"/>
            <a:ext cx="727710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— Uso Restrito a Investidores</a:t>
            </a:r>
            <a:endParaRPr lang="en-US" sz="1125" dirty="0"/>
          </a:p>
        </p:txBody>
      </p:sp>
      <p:sp>
        <p:nvSpPr>
          <p:cNvPr id="57" name="SK-5-text-56"/>
          <p:cNvSpPr/>
          <p:nvPr/>
        </p:nvSpPr>
        <p:spPr>
          <a:xfrm>
            <a:off x="4876800" y="6645325"/>
            <a:ext cx="6877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OmniChannel · Projeção de Custos 2026</a:t>
            </a:r>
            <a:endParaRPr lang="en-US" sz="1125" dirty="0"/>
          </a:p>
        </p:txBody>
      </p:sp>
      <p:sp>
        <p:nvSpPr>
          <p:cNvPr id="58" name="SK-5-text-57"/>
          <p:cNvSpPr/>
          <p:nvPr/>
        </p:nvSpPr>
        <p:spPr>
          <a:xfrm>
            <a:off x="11460361" y="6645325"/>
            <a:ext cx="731639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10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55" y="315367"/>
            <a:ext cx="780157" cy="315367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773" y="0"/>
            <a:ext cx="3438079" cy="2160240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" y="1613595"/>
            <a:ext cx="7949059" cy="9525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2980" y="1488132"/>
            <a:ext cx="2633365" cy="1433215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80" y="3114824"/>
            <a:ext cx="2633365" cy="1418927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2980" y="4738836"/>
            <a:ext cx="2633365" cy="1446907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55" y="6441728"/>
            <a:ext cx="10948392" cy="9525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655" y="6809929"/>
            <a:ext cx="3218557" cy="47923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6479" y="6563023"/>
            <a:ext cx="426690" cy="150763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784" y="2173932"/>
            <a:ext cx="8046690" cy="4080421"/>
          </a:xfrm>
          <a:prstGeom prst="rect">
            <a:avLst/>
          </a:prstGeom>
        </p:spPr>
      </p:pic>
      <p:sp>
        <p:nvSpPr>
          <p:cNvPr id="13" name="SK-6-text-12"/>
          <p:cNvSpPr/>
          <p:nvPr/>
        </p:nvSpPr>
        <p:spPr>
          <a:xfrm>
            <a:off x="719286" y="377130"/>
            <a:ext cx="195929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10</a:t>
            </a:r>
            <a:endParaRPr lang="en-US" sz="1275" dirty="0"/>
          </a:p>
        </p:txBody>
      </p:sp>
      <p:sp>
        <p:nvSpPr>
          <p:cNvPr id="14" name="SK-6-text-13"/>
          <p:cNvSpPr/>
          <p:nvPr/>
        </p:nvSpPr>
        <p:spPr>
          <a:xfrm>
            <a:off x="572988" y="747415"/>
            <a:ext cx="10761345" cy="4388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 de Mercado</a:t>
            </a:r>
            <a:endParaRPr lang="en-US" sz="3150" dirty="0"/>
          </a:p>
        </p:txBody>
      </p:sp>
      <p:sp>
        <p:nvSpPr>
          <p:cNvPr id="15" name="SK-6-text-14"/>
          <p:cNvSpPr/>
          <p:nvPr/>
        </p:nvSpPr>
        <p:spPr>
          <a:xfrm>
            <a:off x="572988" y="1220688"/>
            <a:ext cx="11619012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vantagem competitiva frente às soluções globais</a:t>
            </a:r>
            <a:endParaRPr lang="en-US" sz="1950" dirty="0"/>
          </a:p>
        </p:txBody>
      </p:sp>
      <p:sp>
        <p:nvSpPr>
          <p:cNvPr id="16" name="SK-6-text-15"/>
          <p:cNvSpPr/>
          <p:nvPr/>
        </p:nvSpPr>
        <p:spPr>
          <a:xfrm>
            <a:off x="572988" y="1878955"/>
            <a:ext cx="942879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 (R$) — COMPARATIVO DIRETO</a:t>
            </a:r>
            <a:endParaRPr lang="en-US" sz="1425" dirty="0"/>
          </a:p>
        </p:txBody>
      </p:sp>
      <p:sp>
        <p:nvSpPr>
          <p:cNvPr id="17" name="SK-6-text-16"/>
          <p:cNvSpPr/>
          <p:nvPr/>
        </p:nvSpPr>
        <p:spPr>
          <a:xfrm>
            <a:off x="9887694" y="1625203"/>
            <a:ext cx="2304306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22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3,5×</a:t>
            </a:r>
            <a:endParaRPr lang="en-US" sz="3225" dirty="0"/>
          </a:p>
        </p:txBody>
      </p:sp>
      <p:sp>
        <p:nvSpPr>
          <p:cNvPr id="18" name="SK-6-text-17"/>
          <p:cNvSpPr/>
          <p:nvPr/>
        </p:nvSpPr>
        <p:spPr>
          <a:xfrm>
            <a:off x="9619357" y="2105323"/>
            <a:ext cx="1487388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barato que</a:t>
            </a:r>
            <a:endParaRPr lang="en-US" sz="15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Observe.AI</a:t>
            </a:r>
            <a:endParaRPr lang="en-US" sz="1500" dirty="0"/>
          </a:p>
        </p:txBody>
      </p:sp>
      <p:sp>
        <p:nvSpPr>
          <p:cNvPr id="19" name="SK-6-text-18"/>
          <p:cNvSpPr/>
          <p:nvPr/>
        </p:nvSpPr>
        <p:spPr>
          <a:xfrm>
            <a:off x="9838879" y="2331690"/>
            <a:ext cx="235312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R$ 0,83 vs R$ 0,24</a:t>
            </a:r>
            <a:endParaRPr lang="en-US" sz="1050" dirty="0"/>
          </a:p>
        </p:txBody>
      </p:sp>
      <p:sp>
        <p:nvSpPr>
          <p:cNvPr id="20" name="SK-6-text-19"/>
          <p:cNvSpPr/>
          <p:nvPr/>
        </p:nvSpPr>
        <p:spPr>
          <a:xfrm>
            <a:off x="9300865" y="2605980"/>
            <a:ext cx="212437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chamada</a:t>
            </a:r>
            <a:endParaRPr lang="en-US" sz="1050" dirty="0"/>
          </a:p>
        </p:txBody>
      </p:sp>
      <p:sp>
        <p:nvSpPr>
          <p:cNvPr id="21" name="SK-6-text-20"/>
          <p:cNvSpPr/>
          <p:nvPr/>
        </p:nvSpPr>
        <p:spPr>
          <a:xfrm>
            <a:off x="9570690" y="3236863"/>
            <a:ext cx="2621310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22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R$ 0,03</a:t>
            </a:r>
            <a:endParaRPr lang="en-US" sz="3225" dirty="0"/>
          </a:p>
        </p:txBody>
      </p:sp>
      <p:sp>
        <p:nvSpPr>
          <p:cNvPr id="22" name="SK-6-text-21"/>
          <p:cNvSpPr/>
          <p:nvPr/>
        </p:nvSpPr>
        <p:spPr>
          <a:xfrm>
            <a:off x="9473059" y="3730675"/>
            <a:ext cx="1779984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</a:t>
            </a:r>
            <a:endParaRPr lang="en-US" sz="15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escala máxima</a:t>
            </a:r>
            <a:endParaRPr lang="en-US" sz="1500" dirty="0"/>
          </a:p>
        </p:txBody>
      </p:sp>
      <p:sp>
        <p:nvSpPr>
          <p:cNvPr id="23" name="SK-6-text-22"/>
          <p:cNvSpPr/>
          <p:nvPr/>
        </p:nvSpPr>
        <p:spPr>
          <a:xfrm>
            <a:off x="9313069" y="4231332"/>
            <a:ext cx="211216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 chamadas/dia · 150K/mês</a:t>
            </a:r>
            <a:endParaRPr lang="en-US" sz="1050" dirty="0"/>
          </a:p>
        </p:txBody>
      </p:sp>
      <p:sp>
        <p:nvSpPr>
          <p:cNvPr id="24" name="SK-6-text-23"/>
          <p:cNvSpPr/>
          <p:nvPr/>
        </p:nvSpPr>
        <p:spPr>
          <a:xfrm>
            <a:off x="9911953" y="4882753"/>
            <a:ext cx="228004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22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3225" dirty="0"/>
          </a:p>
        </p:txBody>
      </p:sp>
      <p:sp>
        <p:nvSpPr>
          <p:cNvPr id="25" name="SK-6-text-24"/>
          <p:cNvSpPr/>
          <p:nvPr/>
        </p:nvSpPr>
        <p:spPr>
          <a:xfrm>
            <a:off x="9192667" y="5356027"/>
            <a:ext cx="2340769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potencial</a:t>
            </a:r>
            <a:endParaRPr lang="en-US" sz="15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a R$ 0,50/chamada</a:t>
            </a:r>
            <a:endParaRPr lang="en-US" sz="1500" dirty="0"/>
          </a:p>
        </p:txBody>
      </p:sp>
      <p:sp>
        <p:nvSpPr>
          <p:cNvPr id="26" name="SK-6-text-25"/>
          <p:cNvSpPr/>
          <p:nvPr/>
        </p:nvSpPr>
        <p:spPr>
          <a:xfrm>
            <a:off x="9166771" y="5863530"/>
            <a:ext cx="239256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 de revenda identificada</a:t>
            </a:r>
            <a:endParaRPr lang="en-US" sz="1050" dirty="0"/>
          </a:p>
        </p:txBody>
      </p:sp>
      <p:sp>
        <p:nvSpPr>
          <p:cNvPr id="27" name="SK-6-text-26"/>
          <p:cNvSpPr/>
          <p:nvPr/>
        </p:nvSpPr>
        <p:spPr>
          <a:xfrm>
            <a:off x="499765" y="6563023"/>
            <a:ext cx="727710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9FA8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— Uso Restrito a Investidores</a:t>
            </a:r>
            <a:endParaRPr lang="en-US" sz="1125" dirty="0"/>
          </a:p>
        </p:txBody>
      </p:sp>
      <p:sp>
        <p:nvSpPr>
          <p:cNvPr id="28" name="SK-6-text-27"/>
          <p:cNvSpPr/>
          <p:nvPr/>
        </p:nvSpPr>
        <p:spPr>
          <a:xfrm>
            <a:off x="11314063" y="6563023"/>
            <a:ext cx="877937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9FA8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9" y="428625"/>
            <a:ext cx="902196" cy="370284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9" y="1215926"/>
            <a:ext cx="11411694" cy="9525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98" y="1473696"/>
            <a:ext cx="5437584" cy="1578620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98" y="3051721"/>
            <a:ext cx="5437584" cy="1824186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98" y="4813548"/>
            <a:ext cx="5437584" cy="1530548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153" y="1481286"/>
            <a:ext cx="3291780" cy="4752529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859" y="5081736"/>
            <a:ext cx="2950369" cy="1104007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827788"/>
            <a:ext cx="12192000" cy="1905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0063" y="1467594"/>
            <a:ext cx="2401788" cy="4142184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198269"/>
            <a:ext cx="5096173" cy="1069777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538686"/>
            <a:ext cx="5120580" cy="1152079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1851571"/>
            <a:ext cx="5120580" cy="1124694"/>
          </a:xfrm>
          <a:prstGeom prst="rect">
            <a:avLst/>
          </a:prstGeom>
        </p:spPr>
      </p:pic>
      <p:sp>
        <p:nvSpPr>
          <p:cNvPr id="15" name="SK-7-text-14"/>
          <p:cNvSpPr/>
          <p:nvPr/>
        </p:nvSpPr>
        <p:spPr>
          <a:xfrm>
            <a:off x="496193" y="521196"/>
            <a:ext cx="689967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10</a:t>
            </a:r>
            <a:endParaRPr lang="en-US" sz="1650" dirty="0"/>
          </a:p>
        </p:txBody>
      </p:sp>
      <p:sp>
        <p:nvSpPr>
          <p:cNvPr id="16" name="SK-7-text-15"/>
          <p:cNvSpPr/>
          <p:nvPr/>
        </p:nvSpPr>
        <p:spPr>
          <a:xfrm>
            <a:off x="1499592" y="329059"/>
            <a:ext cx="10692408" cy="4388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Risco e Modelo Bayesiano</a:t>
            </a:r>
            <a:endParaRPr lang="en-US" sz="2925" dirty="0"/>
          </a:p>
        </p:txBody>
      </p:sp>
      <p:sp>
        <p:nvSpPr>
          <p:cNvPr id="17" name="SK-7-text-16"/>
          <p:cNvSpPr/>
          <p:nvPr/>
        </p:nvSpPr>
        <p:spPr>
          <a:xfrm>
            <a:off x="1499592" y="788640"/>
            <a:ext cx="10692408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 de Monte Carlo · 10.000 iterações · Intervalo de Confiança 80%</a:t>
            </a:r>
            <a:endParaRPr lang="en-US" sz="1800" dirty="0"/>
          </a:p>
        </p:txBody>
      </p:sp>
      <p:sp>
        <p:nvSpPr>
          <p:cNvPr id="18" name="SK-7-text-17"/>
          <p:cNvSpPr/>
          <p:nvPr/>
        </p:nvSpPr>
        <p:spPr>
          <a:xfrm>
            <a:off x="938659" y="1549896"/>
            <a:ext cx="1102709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CONSERVADOR · 500 CHAMADAS/DIA · 15.000/MÊS</a:t>
            </a:r>
            <a:endParaRPr lang="en-US" sz="1275" dirty="0"/>
          </a:p>
        </p:txBody>
      </p:sp>
      <p:sp>
        <p:nvSpPr>
          <p:cNvPr id="19" name="SK-7-text-18"/>
          <p:cNvSpPr/>
          <p:nvPr/>
        </p:nvSpPr>
        <p:spPr>
          <a:xfrm>
            <a:off x="938659" y="3236863"/>
            <a:ext cx="10185082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BASE · 1.000 CHAMADAS/DIA · 30.000/MÊS</a:t>
            </a:r>
            <a:endParaRPr lang="en-US" sz="1275" dirty="0"/>
          </a:p>
        </p:txBody>
      </p:sp>
      <p:sp>
        <p:nvSpPr>
          <p:cNvPr id="20" name="SK-7-text-19"/>
          <p:cNvSpPr/>
          <p:nvPr/>
        </p:nvSpPr>
        <p:spPr>
          <a:xfrm>
            <a:off x="938659" y="4889748"/>
            <a:ext cx="1125334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DE ESCALA · 5.000 CHAMADAS/DIA · 150.000/MÊS</a:t>
            </a:r>
            <a:endParaRPr lang="en-US" sz="1275" dirty="0"/>
          </a:p>
        </p:txBody>
      </p:sp>
      <p:sp>
        <p:nvSpPr>
          <p:cNvPr id="21" name="SK-7-text-20"/>
          <p:cNvSpPr/>
          <p:nvPr/>
        </p:nvSpPr>
        <p:spPr>
          <a:xfrm>
            <a:off x="6742063" y="1645890"/>
            <a:ext cx="221837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</a:t>
            </a:r>
            <a:endParaRPr lang="en-US" sz="1275" dirty="0"/>
          </a:p>
        </p:txBody>
      </p:sp>
      <p:sp>
        <p:nvSpPr>
          <p:cNvPr id="22" name="SK-7-text-21"/>
          <p:cNvSpPr/>
          <p:nvPr/>
        </p:nvSpPr>
        <p:spPr>
          <a:xfrm>
            <a:off x="6754267" y="1975098"/>
            <a:ext cx="33737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Monte Carlo</a:t>
            </a:r>
            <a:endParaRPr lang="en-US" sz="1650" dirty="0"/>
          </a:p>
        </p:txBody>
      </p:sp>
      <p:sp>
        <p:nvSpPr>
          <p:cNvPr id="23" name="SK-7-text-22"/>
          <p:cNvSpPr/>
          <p:nvPr/>
        </p:nvSpPr>
        <p:spPr>
          <a:xfrm>
            <a:off x="6998196" y="2249388"/>
            <a:ext cx="2316361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10.000 iterações independentes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cenário</a:t>
            </a:r>
            <a:endParaRPr lang="en-US" sz="1200" dirty="0"/>
          </a:p>
        </p:txBody>
      </p:sp>
      <p:sp>
        <p:nvSpPr>
          <p:cNvPr id="24" name="SK-7-text-23"/>
          <p:cNvSpPr/>
          <p:nvPr/>
        </p:nvSpPr>
        <p:spPr>
          <a:xfrm>
            <a:off x="6754267" y="2777430"/>
            <a:ext cx="538543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Priors Estatísticos</a:t>
            </a:r>
            <a:endParaRPr lang="en-US" sz="1650" dirty="0"/>
          </a:p>
        </p:txBody>
      </p:sp>
      <p:sp>
        <p:nvSpPr>
          <p:cNvPr id="25" name="SK-7-text-24"/>
          <p:cNvSpPr/>
          <p:nvPr/>
        </p:nvSpPr>
        <p:spPr>
          <a:xfrm>
            <a:off x="6985992" y="3044875"/>
            <a:ext cx="2255490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Whisper: LogNormal(0,55 · 0,2)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Tokens: Uniform(800–3.000)</a:t>
            </a:r>
            <a:endParaRPr lang="en-US" sz="1200" dirty="0"/>
          </a:p>
        </p:txBody>
      </p:sp>
      <p:sp>
        <p:nvSpPr>
          <p:cNvPr id="26" name="SK-7-text-25"/>
          <p:cNvSpPr/>
          <p:nvPr/>
        </p:nvSpPr>
        <p:spPr>
          <a:xfrm>
            <a:off x="6754267" y="3586609"/>
            <a:ext cx="362521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Concorrência</a:t>
            </a:r>
            <a:endParaRPr lang="en-US" sz="1650" dirty="0"/>
          </a:p>
        </p:txBody>
      </p:sp>
      <p:sp>
        <p:nvSpPr>
          <p:cNvPr id="27" name="SK-7-text-26"/>
          <p:cNvSpPr/>
          <p:nvPr/>
        </p:nvSpPr>
        <p:spPr>
          <a:xfrm>
            <a:off x="6998196" y="3854053"/>
            <a:ext cx="168235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Distribuição simulada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[1, 2, 2, 2, 3] instâncias</a:t>
            </a:r>
            <a:endParaRPr lang="en-US" sz="1200" dirty="0"/>
          </a:p>
        </p:txBody>
      </p:sp>
      <p:sp>
        <p:nvSpPr>
          <p:cNvPr id="28" name="SK-7-text-27"/>
          <p:cNvSpPr/>
          <p:nvPr/>
        </p:nvSpPr>
        <p:spPr>
          <a:xfrm>
            <a:off x="6754267" y="4389090"/>
            <a:ext cx="2511475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Intervalo de Confiança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dos resultados entre P10 e P90</a:t>
            </a:r>
            <a:endParaRPr lang="en-US" sz="1350" dirty="0"/>
          </a:p>
        </p:txBody>
      </p:sp>
      <p:sp>
        <p:nvSpPr>
          <p:cNvPr id="29" name="SK-7-text-28"/>
          <p:cNvSpPr/>
          <p:nvPr/>
        </p:nvSpPr>
        <p:spPr>
          <a:xfrm>
            <a:off x="6839694" y="5198269"/>
            <a:ext cx="2657773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Variação máxima de ±15%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torno da mediana</a:t>
            </a:r>
            <a:endParaRPr lang="en-US" sz="1350" dirty="0"/>
          </a:p>
        </p:txBody>
      </p:sp>
      <p:sp>
        <p:nvSpPr>
          <p:cNvPr id="30" name="SK-7-text-29"/>
          <p:cNvSpPr/>
          <p:nvPr/>
        </p:nvSpPr>
        <p:spPr>
          <a:xfrm>
            <a:off x="7156698" y="5705773"/>
            <a:ext cx="2352973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previsíveis e controláveis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todos os cenários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353467" y="6549330"/>
            <a:ext cx="72771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— Uso Restrito a Investidores</a:t>
            </a:r>
            <a:endParaRPr lang="en-US" sz="1125" dirty="0"/>
          </a:p>
        </p:txBody>
      </p:sp>
      <p:sp>
        <p:nvSpPr>
          <p:cNvPr id="32" name="SK-7-text-31"/>
          <p:cNvSpPr/>
          <p:nvPr/>
        </p:nvSpPr>
        <p:spPr>
          <a:xfrm>
            <a:off x="5972473" y="6542484"/>
            <a:ext cx="23455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125" dirty="0"/>
          </a:p>
        </p:txBody>
      </p:sp>
      <p:sp>
        <p:nvSpPr>
          <p:cNvPr id="33" name="SK-7-text-32"/>
          <p:cNvSpPr/>
          <p:nvPr/>
        </p:nvSpPr>
        <p:spPr>
          <a:xfrm>
            <a:off x="11384161" y="6549330"/>
            <a:ext cx="441871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361" y="509587"/>
            <a:ext cx="8351490" cy="9525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290" y="1645890"/>
            <a:ext cx="2986980" cy="370329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248" y="2146548"/>
            <a:ext cx="19050" cy="3031182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891" y="2130766"/>
            <a:ext cx="107763" cy="107763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282" y="1735038"/>
            <a:ext cx="5218063" cy="1104007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282" y="2983111"/>
            <a:ext cx="5218063" cy="1090315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282" y="4247852"/>
            <a:ext cx="5218063" cy="1343471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65" y="5596086"/>
            <a:ext cx="11204377" cy="774948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9671" y="1611511"/>
            <a:ext cx="1341090" cy="137160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1898" y="4560540"/>
            <a:ext cx="414486" cy="397669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6157" y="3312319"/>
            <a:ext cx="365671" cy="411361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898" y="2084784"/>
            <a:ext cx="414486" cy="397669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70063" y="1707505"/>
            <a:ext cx="743694" cy="3648373"/>
          </a:xfrm>
          <a:prstGeom prst="rect">
            <a:avLst/>
          </a:prstGeom>
        </p:spPr>
      </p:pic>
      <p:sp>
        <p:nvSpPr>
          <p:cNvPr id="16" name="SK-8-text-15"/>
          <p:cNvSpPr/>
          <p:nvPr/>
        </p:nvSpPr>
        <p:spPr>
          <a:xfrm>
            <a:off x="463153" y="315367"/>
            <a:ext cx="714946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D7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08 · CAPACIDADE OPERACIONAL</a:t>
            </a:r>
            <a:endParaRPr lang="en-US" sz="1350" dirty="0"/>
          </a:p>
        </p:txBody>
      </p:sp>
      <p:sp>
        <p:nvSpPr>
          <p:cNvPr id="17" name="SK-8-text-16"/>
          <p:cNvSpPr/>
          <p:nvPr/>
        </p:nvSpPr>
        <p:spPr>
          <a:xfrm>
            <a:off x="463153" y="671959"/>
            <a:ext cx="1172884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Capacidade Operacional e Crescimento</a:t>
            </a:r>
            <a:endParaRPr lang="en-US" sz="3750" dirty="0"/>
          </a:p>
        </p:txBody>
      </p:sp>
      <p:sp>
        <p:nvSpPr>
          <p:cNvPr id="18" name="SK-8-text-17"/>
          <p:cNvSpPr/>
          <p:nvPr/>
        </p:nvSpPr>
        <p:spPr>
          <a:xfrm>
            <a:off x="463153" y="1213842"/>
            <a:ext cx="11728847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atual pronta para escala imediata</a:t>
            </a:r>
            <a:endParaRPr lang="en-US" sz="2400" dirty="0"/>
          </a:p>
        </p:txBody>
      </p:sp>
      <p:sp>
        <p:nvSpPr>
          <p:cNvPr id="19" name="SK-8-text-18"/>
          <p:cNvSpPr/>
          <p:nvPr/>
        </p:nvSpPr>
        <p:spPr>
          <a:xfrm>
            <a:off x="327273" y="2311003"/>
            <a:ext cx="1684288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Pico Máximo</a:t>
            </a:r>
            <a:endParaRPr lang="en-US" sz="1950" dirty="0"/>
          </a:p>
        </p:txBody>
      </p:sp>
      <p:sp>
        <p:nvSpPr>
          <p:cNvPr id="20" name="SK-8-text-19"/>
          <p:cNvSpPr/>
          <p:nvPr/>
        </p:nvSpPr>
        <p:spPr>
          <a:xfrm>
            <a:off x="1095375" y="3140869"/>
            <a:ext cx="916186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</a:t>
            </a:r>
            <a:endParaRPr lang="en-US" sz="1950" dirty="0"/>
          </a:p>
        </p:txBody>
      </p:sp>
      <p:sp>
        <p:nvSpPr>
          <p:cNvPr id="21" name="SK-8-text-20"/>
          <p:cNvSpPr/>
          <p:nvPr/>
        </p:nvSpPr>
        <p:spPr>
          <a:xfrm>
            <a:off x="473571" y="3977580"/>
            <a:ext cx="1550194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Confortável</a:t>
            </a:r>
            <a:endParaRPr lang="en-US" sz="1950" dirty="0"/>
          </a:p>
        </p:txBody>
      </p:sp>
      <p:sp>
        <p:nvSpPr>
          <p:cNvPr id="22" name="SK-8-text-21"/>
          <p:cNvSpPr/>
          <p:nvPr/>
        </p:nvSpPr>
        <p:spPr>
          <a:xfrm>
            <a:off x="1326952" y="4800600"/>
            <a:ext cx="684609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Hoje</a:t>
            </a:r>
            <a:endParaRPr lang="en-US" sz="1950" dirty="0"/>
          </a:p>
        </p:txBody>
      </p:sp>
      <p:sp>
        <p:nvSpPr>
          <p:cNvPr id="23" name="SK-8-text-22"/>
          <p:cNvSpPr/>
          <p:nvPr/>
        </p:nvSpPr>
        <p:spPr>
          <a:xfrm>
            <a:off x="3060055" y="2228850"/>
            <a:ext cx="504063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16.000 / dia</a:t>
            </a:r>
            <a:endParaRPr lang="en-US" sz="2100" dirty="0"/>
          </a:p>
        </p:txBody>
      </p:sp>
      <p:sp>
        <p:nvSpPr>
          <p:cNvPr id="24" name="SK-8-text-23"/>
          <p:cNvSpPr/>
          <p:nvPr/>
        </p:nvSpPr>
        <p:spPr>
          <a:xfrm>
            <a:off x="3145482" y="2571750"/>
            <a:ext cx="513588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instâncias · auto-scaling</a:t>
            </a:r>
            <a:endParaRPr lang="en-US" sz="1200" dirty="0"/>
          </a:p>
        </p:txBody>
      </p:sp>
      <p:sp>
        <p:nvSpPr>
          <p:cNvPr id="25" name="SK-8-text-24"/>
          <p:cNvSpPr/>
          <p:nvPr/>
        </p:nvSpPr>
        <p:spPr>
          <a:xfrm>
            <a:off x="3072259" y="3079105"/>
            <a:ext cx="4507230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4.000 / dia</a:t>
            </a:r>
            <a:endParaRPr lang="en-US" sz="2100" dirty="0"/>
          </a:p>
        </p:txBody>
      </p:sp>
      <p:sp>
        <p:nvSpPr>
          <p:cNvPr id="26" name="SK-8-text-25"/>
          <p:cNvSpPr/>
          <p:nvPr/>
        </p:nvSpPr>
        <p:spPr>
          <a:xfrm>
            <a:off x="3157686" y="3415159"/>
            <a:ext cx="40386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instância · teórico</a:t>
            </a:r>
            <a:endParaRPr lang="en-US" sz="1200" dirty="0"/>
          </a:p>
        </p:txBody>
      </p:sp>
      <p:sp>
        <p:nvSpPr>
          <p:cNvPr id="27" name="SK-8-text-26"/>
          <p:cNvSpPr/>
          <p:nvPr/>
        </p:nvSpPr>
        <p:spPr>
          <a:xfrm>
            <a:off x="3072259" y="3902125"/>
            <a:ext cx="706755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– 1.000 / dia</a:t>
            </a:r>
            <a:endParaRPr lang="en-US" sz="2100" dirty="0"/>
          </a:p>
        </p:txBody>
      </p:sp>
      <p:sp>
        <p:nvSpPr>
          <p:cNvPr id="28" name="SK-8-text-27"/>
          <p:cNvSpPr/>
          <p:nvPr/>
        </p:nvSpPr>
        <p:spPr>
          <a:xfrm>
            <a:off x="3157686" y="4245025"/>
            <a:ext cx="330708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48A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instância ativa</a:t>
            </a:r>
            <a:endParaRPr lang="en-US" sz="1200" dirty="0"/>
          </a:p>
        </p:txBody>
      </p:sp>
      <p:sp>
        <p:nvSpPr>
          <p:cNvPr id="29" name="SK-8-text-28"/>
          <p:cNvSpPr/>
          <p:nvPr/>
        </p:nvSpPr>
        <p:spPr>
          <a:xfrm>
            <a:off x="3072259" y="4718298"/>
            <a:ext cx="5680710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~20 chamadas/dia</a:t>
            </a:r>
            <a:endParaRPr lang="en-US" sz="2100" dirty="0"/>
          </a:p>
        </p:txBody>
      </p:sp>
      <p:sp>
        <p:nvSpPr>
          <p:cNvPr id="30" name="SK-8-text-29"/>
          <p:cNvSpPr/>
          <p:nvPr/>
        </p:nvSpPr>
        <p:spPr>
          <a:xfrm>
            <a:off x="3133279" y="5061198"/>
            <a:ext cx="263652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Operação atual</a:t>
            </a:r>
            <a:endParaRPr lang="en-US" sz="1200" dirty="0"/>
          </a:p>
        </p:txBody>
      </p:sp>
      <p:sp>
        <p:nvSpPr>
          <p:cNvPr id="31" name="SK-8-text-30"/>
          <p:cNvSpPr/>
          <p:nvPr/>
        </p:nvSpPr>
        <p:spPr>
          <a:xfrm>
            <a:off x="5851922" y="2935188"/>
            <a:ext cx="207169" cy="14812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vert"/>
          <a:lstStyle/>
          <a:p>
            <a:pPr algn="l" indent="0" marL="0">
              <a:buNone/>
            </a:pPr>
            <a:r>
              <a:rPr lang="en-US" sz="525" dirty="0">
                <a:solidFill>
                  <a:srgbClr val="FFD7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Auto-scaling ativo</a:t>
            </a:r>
            <a:endParaRPr lang="en-US" sz="525" dirty="0"/>
          </a:p>
        </p:txBody>
      </p:sp>
      <p:sp>
        <p:nvSpPr>
          <p:cNvPr id="32" name="SK-8-text-31"/>
          <p:cNvSpPr/>
          <p:nvPr/>
        </p:nvSpPr>
        <p:spPr>
          <a:xfrm>
            <a:off x="7437090" y="1878955"/>
            <a:ext cx="475491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Worker Cloud Run</a:t>
            </a:r>
            <a:endParaRPr lang="en-US" sz="1950" dirty="0"/>
          </a:p>
        </p:txBody>
      </p:sp>
      <p:sp>
        <p:nvSpPr>
          <p:cNvPr id="33" name="SK-8-text-32"/>
          <p:cNvSpPr/>
          <p:nvPr/>
        </p:nvSpPr>
        <p:spPr>
          <a:xfrm>
            <a:off x="7449294" y="2208163"/>
            <a:ext cx="471487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vCPU · 4 GB RAM</a:t>
            </a:r>
            <a:endParaRPr lang="en-US" sz="1650" dirty="0"/>
          </a:p>
        </p:txBody>
      </p:sp>
      <p:sp>
        <p:nvSpPr>
          <p:cNvPr id="34" name="SK-8-text-33"/>
          <p:cNvSpPr/>
          <p:nvPr/>
        </p:nvSpPr>
        <p:spPr>
          <a:xfrm>
            <a:off x="7461498" y="2461915"/>
            <a:ext cx="4730502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Concorrência: 2 · Min=1 · Max=4</a:t>
            </a:r>
            <a:endParaRPr lang="en-US" sz="1650" dirty="0"/>
          </a:p>
        </p:txBody>
      </p:sp>
      <p:sp>
        <p:nvSpPr>
          <p:cNvPr id="35" name="SK-8-text-34"/>
          <p:cNvSpPr/>
          <p:nvPr/>
        </p:nvSpPr>
        <p:spPr>
          <a:xfrm>
            <a:off x="7449294" y="3113484"/>
            <a:ext cx="4742706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Velocidade de Processamento</a:t>
            </a:r>
            <a:endParaRPr lang="en-US" sz="1950" dirty="0"/>
          </a:p>
        </p:txBody>
      </p:sp>
      <p:sp>
        <p:nvSpPr>
          <p:cNvPr id="36" name="SK-8-text-35"/>
          <p:cNvSpPr/>
          <p:nvPr/>
        </p:nvSpPr>
        <p:spPr>
          <a:xfrm>
            <a:off x="7449294" y="3435846"/>
            <a:ext cx="4742706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~0,7 min por chamada</a:t>
            </a:r>
            <a:endParaRPr lang="en-US" sz="1650" dirty="0"/>
          </a:p>
        </p:txBody>
      </p:sp>
      <p:sp>
        <p:nvSpPr>
          <p:cNvPr id="37" name="SK-8-text-36"/>
          <p:cNvSpPr/>
          <p:nvPr/>
        </p:nvSpPr>
        <p:spPr>
          <a:xfrm>
            <a:off x="7461498" y="3703290"/>
            <a:ext cx="47305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170 chamadas / hora por instância</a:t>
            </a:r>
            <a:endParaRPr lang="en-US" sz="1650" dirty="0"/>
          </a:p>
        </p:txBody>
      </p:sp>
      <p:sp>
        <p:nvSpPr>
          <p:cNvPr id="38" name="SK-8-text-37"/>
          <p:cNvSpPr/>
          <p:nvPr/>
        </p:nvSpPr>
        <p:spPr>
          <a:xfrm>
            <a:off x="7449294" y="4354711"/>
            <a:ext cx="4284345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Modo de Escala</a:t>
            </a:r>
            <a:endParaRPr lang="en-US" sz="1950" dirty="0"/>
          </a:p>
        </p:txBody>
      </p:sp>
      <p:sp>
        <p:nvSpPr>
          <p:cNvPr id="39" name="SK-8-text-38"/>
          <p:cNvSpPr/>
          <p:nvPr/>
        </p:nvSpPr>
        <p:spPr>
          <a:xfrm>
            <a:off x="7449294" y="4670227"/>
            <a:ext cx="4742706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subscription · sem idle</a:t>
            </a:r>
            <a:endParaRPr lang="en-US" sz="1650" dirty="0"/>
          </a:p>
        </p:txBody>
      </p:sp>
      <p:sp>
        <p:nvSpPr>
          <p:cNvPr id="40" name="SK-8-text-39"/>
          <p:cNvSpPr/>
          <p:nvPr/>
        </p:nvSpPr>
        <p:spPr>
          <a:xfrm>
            <a:off x="7449294" y="4937671"/>
            <a:ext cx="4742706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C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Scale-to-zero fora do pico</a:t>
            </a:r>
            <a:endParaRPr lang="en-US" sz="1650" dirty="0"/>
          </a:p>
        </p:txBody>
      </p:sp>
      <p:sp>
        <p:nvSpPr>
          <p:cNvPr id="41" name="SK-8-text-40"/>
          <p:cNvSpPr/>
          <p:nvPr/>
        </p:nvSpPr>
        <p:spPr>
          <a:xfrm>
            <a:off x="2525316" y="5685234"/>
            <a:ext cx="7104459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Infraestrutura pronta hoje para 16.000 chamadas/dia</a:t>
            </a:r>
            <a:endParaRPr lang="en-US" sz="2250" dirty="0"/>
          </a:p>
        </p:txBody>
      </p:sp>
      <p:sp>
        <p:nvSpPr>
          <p:cNvPr id="42" name="SK-8-text-41"/>
          <p:cNvSpPr/>
          <p:nvPr/>
        </p:nvSpPr>
        <p:spPr>
          <a:xfrm>
            <a:off x="2576215" y="6021288"/>
            <a:ext cx="7039273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alteração de arquitetura — apenas escala horizontal automática</a:t>
            </a:r>
            <a:endParaRPr lang="en-US" sz="1800" dirty="0"/>
          </a:p>
        </p:txBody>
      </p:sp>
      <p:sp>
        <p:nvSpPr>
          <p:cNvPr id="43" name="SK-8-text-42"/>
          <p:cNvSpPr/>
          <p:nvPr/>
        </p:nvSpPr>
        <p:spPr>
          <a:xfrm>
            <a:off x="4425553" y="6597253"/>
            <a:ext cx="775716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Confidencial — Uso Restrito a Investidores</a:t>
            </a:r>
            <a:endParaRPr lang="en-US" sz="1200" dirty="0"/>
          </a:p>
        </p:txBody>
      </p:sp>
      <p:sp>
        <p:nvSpPr>
          <p:cNvPr id="44" name="SK-8-text-43"/>
          <p:cNvSpPr/>
          <p:nvPr/>
        </p:nvSpPr>
        <p:spPr>
          <a:xfrm>
            <a:off x="7302996" y="6597253"/>
            <a:ext cx="129540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369"/>
            <a:ext cx="609600" cy="19050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2" y="1762125"/>
            <a:ext cx="11021467" cy="14288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2215009"/>
            <a:ext cx="3389263" cy="2736205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1953" y="2016175"/>
            <a:ext cx="1353294" cy="301675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165" y="2215009"/>
            <a:ext cx="3389263" cy="2736205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075" y="2026444"/>
            <a:ext cx="1353294" cy="301675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353" y="4123730"/>
            <a:ext cx="2852886" cy="9525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9286" y="2215009"/>
            <a:ext cx="3389263" cy="2928342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6196" y="2023021"/>
            <a:ext cx="1353294" cy="301675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07475" y="4123730"/>
            <a:ext cx="2852886" cy="9525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192" y="5589240"/>
            <a:ext cx="11021467" cy="857250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0234" y="5678388"/>
            <a:ext cx="9525" cy="575965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2093" y="5678388"/>
            <a:ext cx="9525" cy="575965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20780"/>
            <a:ext cx="12192000" cy="137071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83067" y="2976265"/>
            <a:ext cx="511969" cy="466279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65569" y="2091630"/>
            <a:ext cx="219373" cy="164455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02996" y="3442692"/>
            <a:ext cx="963067" cy="1590973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28157" y="3429000"/>
            <a:ext cx="572988" cy="1604665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7788" y="2996803"/>
            <a:ext cx="426690" cy="418207"/>
          </a:xfrm>
          <a:prstGeom prst="rect">
            <a:avLst/>
          </a:prstGeom>
        </p:spPr>
      </p:pic>
      <p:sp>
        <p:nvSpPr>
          <p:cNvPr id="23" name="SK-9-text-22"/>
          <p:cNvSpPr/>
          <p:nvPr/>
        </p:nvSpPr>
        <p:spPr>
          <a:xfrm>
            <a:off x="572988" y="301675"/>
            <a:ext cx="885825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09 · OTIMIZAÇÃO &amp; RENTABILIDADE</a:t>
            </a:r>
            <a:endParaRPr lang="en-US" sz="1500" dirty="0"/>
          </a:p>
        </p:txBody>
      </p:sp>
      <p:sp>
        <p:nvSpPr>
          <p:cNvPr id="24" name="SK-9-text-23"/>
          <p:cNvSpPr/>
          <p:nvPr/>
        </p:nvSpPr>
        <p:spPr>
          <a:xfrm>
            <a:off x="572988" y="781794"/>
            <a:ext cx="11619012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Otimização e Rentabilidade</a:t>
            </a:r>
            <a:endParaRPr lang="en-US" sz="3150" dirty="0"/>
          </a:p>
        </p:txBody>
      </p:sp>
      <p:sp>
        <p:nvSpPr>
          <p:cNvPr id="25" name="SK-9-text-24"/>
          <p:cNvSpPr/>
          <p:nvPr/>
        </p:nvSpPr>
        <p:spPr>
          <a:xfrm>
            <a:off x="572988" y="1316682"/>
            <a:ext cx="11619012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Ações concretas para reduzir custos e escalar receita</a:t>
            </a:r>
            <a:endParaRPr lang="en-US" sz="1950" dirty="0"/>
          </a:p>
        </p:txBody>
      </p:sp>
      <p:sp>
        <p:nvSpPr>
          <p:cNvPr id="26" name="SK-9-text-25"/>
          <p:cNvSpPr/>
          <p:nvPr/>
        </p:nvSpPr>
        <p:spPr>
          <a:xfrm>
            <a:off x="2450455" y="2077938"/>
            <a:ext cx="196215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FCF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CONCLUÍDO</a:t>
            </a:r>
            <a:endParaRPr lang="en-US" sz="1125" dirty="0"/>
          </a:p>
        </p:txBody>
      </p:sp>
      <p:sp>
        <p:nvSpPr>
          <p:cNvPr id="27" name="SK-9-text-26"/>
          <p:cNvSpPr/>
          <p:nvPr/>
        </p:nvSpPr>
        <p:spPr>
          <a:xfrm>
            <a:off x="877788" y="2441377"/>
            <a:ext cx="5374005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Worker Test min=0</a:t>
            </a:r>
            <a:endParaRPr lang="en-US" sz="1950" dirty="0"/>
          </a:p>
        </p:txBody>
      </p:sp>
      <p:sp>
        <p:nvSpPr>
          <p:cNvPr id="28" name="SK-9-text-27"/>
          <p:cNvSpPr/>
          <p:nvPr/>
        </p:nvSpPr>
        <p:spPr>
          <a:xfrm>
            <a:off x="1377553" y="3017490"/>
            <a:ext cx="5520690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-R$ 425/mês</a:t>
            </a:r>
            <a:endParaRPr lang="en-US" sz="2700" dirty="0"/>
          </a:p>
        </p:txBody>
      </p:sp>
      <p:sp>
        <p:nvSpPr>
          <p:cNvPr id="29" name="SK-9-text-28"/>
          <p:cNvSpPr/>
          <p:nvPr/>
        </p:nvSpPr>
        <p:spPr>
          <a:xfrm>
            <a:off x="877788" y="3538686"/>
            <a:ext cx="58464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Eliminação de instância idle</a:t>
            </a:r>
            <a:endParaRPr lang="en-US" sz="1350" dirty="0"/>
          </a:p>
        </p:txBody>
      </p:sp>
      <p:sp>
        <p:nvSpPr>
          <p:cNvPr id="30" name="SK-9-text-29"/>
          <p:cNvSpPr/>
          <p:nvPr/>
        </p:nvSpPr>
        <p:spPr>
          <a:xfrm>
            <a:off x="877788" y="3764905"/>
            <a:ext cx="70808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Economia imediata, já implementada</a:t>
            </a:r>
            <a:endParaRPr lang="en-US" sz="1350" dirty="0"/>
          </a:p>
        </p:txBody>
      </p:sp>
      <p:sp>
        <p:nvSpPr>
          <p:cNvPr id="31" name="SK-9-text-30"/>
          <p:cNvSpPr/>
          <p:nvPr/>
        </p:nvSpPr>
        <p:spPr>
          <a:xfrm>
            <a:off x="3608784" y="5095429"/>
            <a:ext cx="230505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 passo</a:t>
            </a:r>
            <a:endParaRPr lang="en-US" sz="1125" dirty="0"/>
          </a:p>
        </p:txBody>
      </p:sp>
      <p:sp>
        <p:nvSpPr>
          <p:cNvPr id="32" name="SK-9-text-31"/>
          <p:cNvSpPr/>
          <p:nvPr/>
        </p:nvSpPr>
        <p:spPr>
          <a:xfrm>
            <a:off x="6217890" y="2098477"/>
            <a:ext cx="264795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 1-2 SEMANAS</a:t>
            </a:r>
            <a:endParaRPr lang="en-US" sz="1125" dirty="0"/>
          </a:p>
        </p:txBody>
      </p:sp>
      <p:sp>
        <p:nvSpPr>
          <p:cNvPr id="33" name="SK-9-text-32"/>
          <p:cNvSpPr/>
          <p:nvPr/>
        </p:nvSpPr>
        <p:spPr>
          <a:xfrm>
            <a:off x="4742557" y="2441377"/>
            <a:ext cx="5175885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 Subscription</a:t>
            </a:r>
            <a:endParaRPr lang="en-US" sz="1950" dirty="0"/>
          </a:p>
        </p:txBody>
      </p:sp>
      <p:sp>
        <p:nvSpPr>
          <p:cNvPr id="34" name="SK-9-text-33"/>
          <p:cNvSpPr/>
          <p:nvPr/>
        </p:nvSpPr>
        <p:spPr>
          <a:xfrm>
            <a:off x="4730353" y="3017490"/>
            <a:ext cx="5520690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-R$ 425/mês</a:t>
            </a:r>
            <a:endParaRPr lang="en-US" sz="2700" dirty="0"/>
          </a:p>
        </p:txBody>
      </p:sp>
      <p:sp>
        <p:nvSpPr>
          <p:cNvPr id="35" name="SK-9-text-34"/>
          <p:cNvSpPr/>
          <p:nvPr/>
        </p:nvSpPr>
        <p:spPr>
          <a:xfrm>
            <a:off x="4754761" y="3531840"/>
            <a:ext cx="598360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Eliminar Worker fixo (min=1)</a:t>
            </a:r>
            <a:endParaRPr lang="en-US" sz="1350" dirty="0"/>
          </a:p>
        </p:txBody>
      </p:sp>
      <p:sp>
        <p:nvSpPr>
          <p:cNvPr id="36" name="SK-9-text-35"/>
          <p:cNvSpPr/>
          <p:nvPr/>
        </p:nvSpPr>
        <p:spPr>
          <a:xfrm>
            <a:off x="4803577" y="3764905"/>
            <a:ext cx="646366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zero-to-hero sob demanda</a:t>
            </a:r>
            <a:endParaRPr lang="en-US" sz="1350" dirty="0"/>
          </a:p>
        </p:txBody>
      </p:sp>
      <p:sp>
        <p:nvSpPr>
          <p:cNvPr id="37" name="SK-9-text-36"/>
          <p:cNvSpPr/>
          <p:nvPr/>
        </p:nvSpPr>
        <p:spPr>
          <a:xfrm>
            <a:off x="4803577" y="4279255"/>
            <a:ext cx="2608957" cy="4868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CUD 1 ano (Cloud Run):</a:t>
            </a:r>
            <a:endParaRPr lang="en-US" sz="15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-20% em infraestrutura</a:t>
            </a:r>
            <a:endParaRPr lang="en-US" sz="1500" dirty="0"/>
          </a:p>
        </p:txBody>
      </p:sp>
      <p:sp>
        <p:nvSpPr>
          <p:cNvPr id="38" name="SK-9-text-37"/>
          <p:cNvSpPr/>
          <p:nvPr/>
        </p:nvSpPr>
        <p:spPr>
          <a:xfrm>
            <a:off x="7290792" y="5095429"/>
            <a:ext cx="367665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horizonte estratégico</a:t>
            </a:r>
            <a:endParaRPr lang="en-US" sz="1125" dirty="0"/>
          </a:p>
        </p:txBody>
      </p:sp>
      <p:sp>
        <p:nvSpPr>
          <p:cNvPr id="39" name="SK-9-text-38"/>
          <p:cNvSpPr/>
          <p:nvPr/>
        </p:nvSpPr>
        <p:spPr>
          <a:xfrm>
            <a:off x="10509498" y="2098477"/>
            <a:ext cx="1682502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 3-6 MESES</a:t>
            </a:r>
            <a:endParaRPr lang="en-US" sz="1125" dirty="0"/>
          </a:p>
        </p:txBody>
      </p:sp>
      <p:sp>
        <p:nvSpPr>
          <p:cNvPr id="40" name="SK-9-text-39"/>
          <p:cNvSpPr/>
          <p:nvPr/>
        </p:nvSpPr>
        <p:spPr>
          <a:xfrm>
            <a:off x="8607475" y="2448223"/>
            <a:ext cx="3584525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Monetização SaaS</a:t>
            </a:r>
            <a:endParaRPr lang="en-US" sz="1950" dirty="0"/>
          </a:p>
        </p:txBody>
      </p:sp>
      <p:sp>
        <p:nvSpPr>
          <p:cNvPr id="41" name="SK-9-text-40"/>
          <p:cNvSpPr/>
          <p:nvPr/>
        </p:nvSpPr>
        <p:spPr>
          <a:xfrm>
            <a:off x="9131796" y="3017490"/>
            <a:ext cx="3060204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~60% margem</a:t>
            </a:r>
            <a:endParaRPr lang="en-US" sz="2700" dirty="0"/>
          </a:p>
        </p:txBody>
      </p:sp>
      <p:sp>
        <p:nvSpPr>
          <p:cNvPr id="42" name="SK-9-text-41"/>
          <p:cNvSpPr/>
          <p:nvPr/>
        </p:nvSpPr>
        <p:spPr>
          <a:xfrm>
            <a:off x="8607475" y="3538686"/>
            <a:ext cx="35845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Revenda a R$ 0,50/chamada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8607475" y="3758059"/>
            <a:ext cx="35845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próprio: R$ 0,03-0,20/chamada</a:t>
            </a:r>
            <a:endParaRPr lang="en-US" sz="1350" dirty="0"/>
          </a:p>
        </p:txBody>
      </p:sp>
      <p:sp>
        <p:nvSpPr>
          <p:cNvPr id="44" name="SK-9-text-43"/>
          <p:cNvSpPr/>
          <p:nvPr/>
        </p:nvSpPr>
        <p:spPr>
          <a:xfrm>
            <a:off x="8692753" y="4279255"/>
            <a:ext cx="349924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Potencial receita (5K calls/dia):</a:t>
            </a:r>
            <a:endParaRPr lang="en-US" sz="1350" dirty="0"/>
          </a:p>
        </p:txBody>
      </p:sp>
      <p:sp>
        <p:nvSpPr>
          <p:cNvPr id="45" name="SK-9-text-44"/>
          <p:cNvSpPr/>
          <p:nvPr/>
        </p:nvSpPr>
        <p:spPr>
          <a:xfrm>
            <a:off x="8802588" y="4526161"/>
            <a:ext cx="338941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R$ 75.000/mês bruto</a:t>
            </a:r>
            <a:endParaRPr lang="en-US" sz="1500" dirty="0"/>
          </a:p>
        </p:txBody>
      </p:sp>
      <p:sp>
        <p:nvSpPr>
          <p:cNvPr id="46" name="SK-9-text-45"/>
          <p:cNvSpPr/>
          <p:nvPr/>
        </p:nvSpPr>
        <p:spPr>
          <a:xfrm>
            <a:off x="1316682" y="5719465"/>
            <a:ext cx="502348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Economia Total Potencial</a:t>
            </a:r>
            <a:endParaRPr lang="en-US" sz="1350" dirty="0"/>
          </a:p>
        </p:txBody>
      </p:sp>
      <p:sp>
        <p:nvSpPr>
          <p:cNvPr id="47" name="SK-9-text-46"/>
          <p:cNvSpPr/>
          <p:nvPr/>
        </p:nvSpPr>
        <p:spPr>
          <a:xfrm>
            <a:off x="1511796" y="5980063"/>
            <a:ext cx="4257675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R$ 850/mês</a:t>
            </a:r>
            <a:endParaRPr lang="en-US" sz="2250" dirty="0"/>
          </a:p>
        </p:txBody>
      </p:sp>
      <p:sp>
        <p:nvSpPr>
          <p:cNvPr id="48" name="SK-9-text-47"/>
          <p:cNvSpPr/>
          <p:nvPr/>
        </p:nvSpPr>
        <p:spPr>
          <a:xfrm>
            <a:off x="4876800" y="5719465"/>
            <a:ext cx="502348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Mínimo por Chamada</a:t>
            </a:r>
            <a:endParaRPr lang="en-US" sz="1350" dirty="0"/>
          </a:p>
        </p:txBody>
      </p:sp>
      <p:sp>
        <p:nvSpPr>
          <p:cNvPr id="49" name="SK-9-text-48"/>
          <p:cNvSpPr/>
          <p:nvPr/>
        </p:nvSpPr>
        <p:spPr>
          <a:xfrm>
            <a:off x="5510659" y="5980063"/>
            <a:ext cx="3228975" cy="335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5B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R$ 0,03</a:t>
            </a:r>
            <a:endParaRPr lang="en-US" sz="2250" dirty="0"/>
          </a:p>
        </p:txBody>
      </p:sp>
      <p:sp>
        <p:nvSpPr>
          <p:cNvPr id="50" name="SK-9-text-49"/>
          <p:cNvSpPr/>
          <p:nvPr/>
        </p:nvSpPr>
        <p:spPr>
          <a:xfrm>
            <a:off x="8692753" y="5719465"/>
            <a:ext cx="349924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Margem SaaS Estimada</a:t>
            </a:r>
            <a:endParaRPr lang="en-US" sz="1350" dirty="0"/>
          </a:p>
        </p:txBody>
      </p:sp>
      <p:sp>
        <p:nvSpPr>
          <p:cNvPr id="51" name="SK-9-text-50"/>
          <p:cNvSpPr/>
          <p:nvPr/>
        </p:nvSpPr>
        <p:spPr>
          <a:xfrm>
            <a:off x="9302353" y="5986909"/>
            <a:ext cx="197167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~60%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855" y="0"/>
            <a:ext cx="2730996" cy="1837879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23471"/>
            <a:ext cx="12192000" cy="1205657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689"/>
            <a:ext cx="633859" cy="28575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1206401"/>
            <a:ext cx="1401961" cy="28575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432" y="2674590"/>
            <a:ext cx="19050" cy="2263080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953" y="2708821"/>
            <a:ext cx="633859" cy="356592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953" y="3483769"/>
            <a:ext cx="633859" cy="356592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53" y="4265563"/>
            <a:ext cx="633859" cy="356592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953" y="5040511"/>
            <a:ext cx="670471" cy="44574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361" y="2385864"/>
            <a:ext cx="2511475" cy="2929682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553" y="3373338"/>
            <a:ext cx="1365498" cy="1468934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7553" y="5098852"/>
            <a:ext cx="1365498" cy="123379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165" y="3449538"/>
            <a:ext cx="1280071" cy="1316682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58486" y="2461915"/>
            <a:ext cx="609600" cy="363438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463" y="2475607"/>
            <a:ext cx="353467" cy="370284"/>
          </a:xfrm>
          <a:prstGeom prst="rect">
            <a:avLst/>
          </a:prstGeom>
        </p:spPr>
      </p:pic>
      <p:sp>
        <p:nvSpPr>
          <p:cNvPr id="18" name="SK-10-text-17"/>
          <p:cNvSpPr/>
          <p:nvPr/>
        </p:nvSpPr>
        <p:spPr>
          <a:xfrm>
            <a:off x="743694" y="294829"/>
            <a:ext cx="44748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PRÓXIMOS PASSOS</a:t>
            </a:r>
            <a:endParaRPr lang="en-US" sz="1350" dirty="0"/>
          </a:p>
        </p:txBody>
      </p:sp>
      <p:sp>
        <p:nvSpPr>
          <p:cNvPr id="19" name="SK-10-text-18"/>
          <p:cNvSpPr/>
          <p:nvPr/>
        </p:nvSpPr>
        <p:spPr>
          <a:xfrm>
            <a:off x="743694" y="603498"/>
            <a:ext cx="11448306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 e Investimento</a:t>
            </a:r>
            <a:endParaRPr lang="en-US" sz="3600" dirty="0"/>
          </a:p>
        </p:txBody>
      </p:sp>
      <p:sp>
        <p:nvSpPr>
          <p:cNvPr id="20" name="SK-10-text-19"/>
          <p:cNvSpPr/>
          <p:nvPr/>
        </p:nvSpPr>
        <p:spPr>
          <a:xfrm>
            <a:off x="719286" y="1316682"/>
            <a:ext cx="11472714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dirty="0">
                <a:solidFill>
                  <a:srgbClr val="A0C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Marcos do projeto · Como participar · Transação via PIX</a:t>
            </a:r>
            <a:endParaRPr lang="en-US" sz="1950" dirty="0"/>
          </a:p>
        </p:txBody>
      </p:sp>
      <p:sp>
        <p:nvSpPr>
          <p:cNvPr id="21" name="SK-10-text-20"/>
          <p:cNvSpPr/>
          <p:nvPr/>
        </p:nvSpPr>
        <p:spPr>
          <a:xfrm>
            <a:off x="719286" y="2098477"/>
            <a:ext cx="513302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MARCOS DO PROJETO</a:t>
            </a:r>
            <a:endParaRPr lang="en-US" sz="1275" dirty="0"/>
          </a:p>
        </p:txBody>
      </p:sp>
      <p:sp>
        <p:nvSpPr>
          <p:cNvPr id="22" name="SK-10-text-21"/>
          <p:cNvSpPr/>
          <p:nvPr/>
        </p:nvSpPr>
        <p:spPr>
          <a:xfrm>
            <a:off x="889992" y="2633365"/>
            <a:ext cx="12001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100" dirty="0"/>
          </a:p>
        </p:txBody>
      </p:sp>
      <p:sp>
        <p:nvSpPr>
          <p:cNvPr id="23" name="SK-10-text-22"/>
          <p:cNvSpPr/>
          <p:nvPr/>
        </p:nvSpPr>
        <p:spPr>
          <a:xfrm>
            <a:off x="1572667" y="2482453"/>
            <a:ext cx="7256145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Ativar PUSH Subscription</a:t>
            </a:r>
            <a:endParaRPr lang="en-US" sz="1950" dirty="0"/>
          </a:p>
        </p:txBody>
      </p:sp>
      <p:sp>
        <p:nvSpPr>
          <p:cNvPr id="24" name="SK-10-text-23"/>
          <p:cNvSpPr/>
          <p:nvPr/>
        </p:nvSpPr>
        <p:spPr>
          <a:xfrm>
            <a:off x="1584871" y="2811661"/>
            <a:ext cx="1060712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Eliminar Worker fixo — economia de R$ 425/mês · 1–2 semanas</a:t>
            </a:r>
            <a:endParaRPr lang="en-US" sz="1350" dirty="0"/>
          </a:p>
        </p:txBody>
      </p:sp>
      <p:sp>
        <p:nvSpPr>
          <p:cNvPr id="25" name="SK-10-text-24"/>
          <p:cNvSpPr/>
          <p:nvPr/>
        </p:nvSpPr>
        <p:spPr>
          <a:xfrm>
            <a:off x="902196" y="3429000"/>
            <a:ext cx="120015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00" dirty="0"/>
          </a:p>
        </p:txBody>
      </p:sp>
      <p:sp>
        <p:nvSpPr>
          <p:cNvPr id="26" name="SK-10-text-25"/>
          <p:cNvSpPr/>
          <p:nvPr/>
        </p:nvSpPr>
        <p:spPr>
          <a:xfrm>
            <a:off x="1584871" y="3278088"/>
            <a:ext cx="7256145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Compromisso de Uso (CUD)</a:t>
            </a:r>
            <a:endParaRPr lang="en-US" sz="1950" dirty="0"/>
          </a:p>
        </p:txBody>
      </p:sp>
      <p:sp>
        <p:nvSpPr>
          <p:cNvPr id="27" name="SK-10-text-26"/>
          <p:cNvSpPr/>
          <p:nvPr/>
        </p:nvSpPr>
        <p:spPr>
          <a:xfrm>
            <a:off x="1572667" y="3614142"/>
            <a:ext cx="714946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–20% em Cloud Run · Ação imediata</a:t>
            </a:r>
            <a:endParaRPr lang="en-US" sz="1350" dirty="0"/>
          </a:p>
        </p:txBody>
      </p:sp>
      <p:sp>
        <p:nvSpPr>
          <p:cNvPr id="28" name="SK-10-text-27"/>
          <p:cNvSpPr/>
          <p:nvPr/>
        </p:nvSpPr>
        <p:spPr>
          <a:xfrm>
            <a:off x="902196" y="4245025"/>
            <a:ext cx="12001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100" dirty="0"/>
          </a:p>
        </p:txBody>
      </p:sp>
      <p:sp>
        <p:nvSpPr>
          <p:cNvPr id="29" name="SK-10-text-28"/>
          <p:cNvSpPr/>
          <p:nvPr/>
        </p:nvSpPr>
        <p:spPr>
          <a:xfrm>
            <a:off x="1584871" y="4080421"/>
            <a:ext cx="9831705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para 1.000 chamadas/dia</a:t>
            </a:r>
            <a:endParaRPr lang="en-US" sz="1950" dirty="0"/>
          </a:p>
        </p:txBody>
      </p:sp>
      <p:sp>
        <p:nvSpPr>
          <p:cNvPr id="30" name="SK-10-text-29"/>
          <p:cNvSpPr/>
          <p:nvPr/>
        </p:nvSpPr>
        <p:spPr>
          <a:xfrm>
            <a:off x="1597075" y="4402782"/>
            <a:ext cx="804100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pronta · R$ 3.672/mês</a:t>
            </a:r>
            <a:endParaRPr lang="en-US" sz="1350" dirty="0"/>
          </a:p>
        </p:txBody>
      </p:sp>
      <p:sp>
        <p:nvSpPr>
          <p:cNvPr id="31" name="SK-10-text-30"/>
          <p:cNvSpPr/>
          <p:nvPr/>
        </p:nvSpPr>
        <p:spPr>
          <a:xfrm>
            <a:off x="902196" y="5047357"/>
            <a:ext cx="12001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100" dirty="0"/>
          </a:p>
        </p:txBody>
      </p:sp>
      <p:sp>
        <p:nvSpPr>
          <p:cNvPr id="32" name="SK-10-text-31"/>
          <p:cNvSpPr/>
          <p:nvPr/>
        </p:nvSpPr>
        <p:spPr>
          <a:xfrm>
            <a:off x="1572667" y="4862215"/>
            <a:ext cx="10525125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SaaS — R$ 0,50/chamada</a:t>
            </a:r>
            <a:endParaRPr lang="en-US" sz="1950" dirty="0"/>
          </a:p>
        </p:txBody>
      </p:sp>
      <p:sp>
        <p:nvSpPr>
          <p:cNvPr id="33" name="SK-10-text-32"/>
          <p:cNvSpPr/>
          <p:nvPr/>
        </p:nvSpPr>
        <p:spPr>
          <a:xfrm>
            <a:off x="1584871" y="5198269"/>
            <a:ext cx="804100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Margem de ~60% · Horizonte 3–6 meses</a:t>
            </a:r>
            <a:endParaRPr lang="en-US" sz="1350" dirty="0"/>
          </a:p>
        </p:txBody>
      </p:sp>
      <p:sp>
        <p:nvSpPr>
          <p:cNvPr id="34" name="SK-10-text-33"/>
          <p:cNvSpPr/>
          <p:nvPr/>
        </p:nvSpPr>
        <p:spPr>
          <a:xfrm>
            <a:off x="8692753" y="2043559"/>
            <a:ext cx="349924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 VIA PIX</a:t>
            </a:r>
            <a:endParaRPr lang="en-US" sz="1275" dirty="0"/>
          </a:p>
        </p:txBody>
      </p:sp>
      <p:sp>
        <p:nvSpPr>
          <p:cNvPr id="35" name="SK-10-text-34"/>
          <p:cNvSpPr/>
          <p:nvPr/>
        </p:nvSpPr>
        <p:spPr>
          <a:xfrm>
            <a:off x="9192667" y="2942034"/>
            <a:ext cx="204501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Chave PIX</a:t>
            </a:r>
            <a:endParaRPr lang="en-US" sz="1425" dirty="0"/>
          </a:p>
        </p:txBody>
      </p:sp>
      <p:sp>
        <p:nvSpPr>
          <p:cNvPr id="36" name="SK-10-text-35"/>
          <p:cNvSpPr/>
          <p:nvPr/>
        </p:nvSpPr>
        <p:spPr>
          <a:xfrm>
            <a:off x="8595271" y="3182094"/>
            <a:ext cx="3596729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investimento@omnichannel.com.br</a:t>
            </a:r>
            <a:endParaRPr lang="en-US" sz="900" dirty="0"/>
          </a:p>
        </p:txBody>
      </p:sp>
      <p:sp>
        <p:nvSpPr>
          <p:cNvPr id="37" name="SK-10-text-36"/>
          <p:cNvSpPr/>
          <p:nvPr/>
        </p:nvSpPr>
        <p:spPr>
          <a:xfrm>
            <a:off x="8704957" y="4827984"/>
            <a:ext cx="3487043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Escaneie para transferência direta</a:t>
            </a:r>
            <a:endParaRPr lang="en-US" sz="900" dirty="0"/>
          </a:p>
        </p:txBody>
      </p:sp>
      <p:sp>
        <p:nvSpPr>
          <p:cNvPr id="38" name="SK-10-text-37"/>
          <p:cNvSpPr/>
          <p:nvPr/>
        </p:nvSpPr>
        <p:spPr>
          <a:xfrm>
            <a:off x="9034165" y="5081736"/>
            <a:ext cx="309372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Transação Segura · PIX</a:t>
            </a:r>
            <a:endParaRPr lang="en-US" sz="900" dirty="0"/>
          </a:p>
        </p:txBody>
      </p:sp>
      <p:sp>
        <p:nvSpPr>
          <p:cNvPr id="39" name="SK-10-text-38"/>
          <p:cNvSpPr/>
          <p:nvPr/>
        </p:nvSpPr>
        <p:spPr>
          <a:xfrm>
            <a:off x="1450777" y="5808613"/>
            <a:ext cx="10741223" cy="335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pronta. Escala comprovada. Momento de crescer.</a:t>
            </a:r>
            <a:endParaRPr lang="en-US" sz="2250" dirty="0"/>
          </a:p>
        </p:txBody>
      </p:sp>
      <p:sp>
        <p:nvSpPr>
          <p:cNvPr id="40" name="SK-10-text-39"/>
          <p:cNvSpPr/>
          <p:nvPr/>
        </p:nvSpPr>
        <p:spPr>
          <a:xfrm>
            <a:off x="2584698" y="6185892"/>
            <a:ext cx="96073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“De R$ 0,24 a R$ 0,03 por chamada — cada investimento multiplica o retorno.”</a:t>
            </a:r>
            <a:endParaRPr lang="en-US" sz="1350" dirty="0"/>
          </a:p>
        </p:txBody>
      </p:sp>
      <p:sp>
        <p:nvSpPr>
          <p:cNvPr id="41" name="SK-10-text-40"/>
          <p:cNvSpPr/>
          <p:nvPr/>
        </p:nvSpPr>
        <p:spPr>
          <a:xfrm>
            <a:off x="426690" y="6638479"/>
            <a:ext cx="583692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— Uso Restrito a Investidores</a:t>
            </a:r>
            <a:endParaRPr lang="en-US" sz="900" dirty="0"/>
          </a:p>
        </p:txBody>
      </p:sp>
      <p:sp>
        <p:nvSpPr>
          <p:cNvPr id="42" name="SK-10-text-41"/>
          <p:cNvSpPr/>
          <p:nvPr/>
        </p:nvSpPr>
        <p:spPr>
          <a:xfrm>
            <a:off x="5839867" y="6617940"/>
            <a:ext cx="70294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pix</a:t>
            </a:r>
            <a:endParaRPr lang="en-US" sz="1350" dirty="0"/>
          </a:p>
        </p:txBody>
      </p:sp>
      <p:sp>
        <p:nvSpPr>
          <p:cNvPr id="43" name="SK-10-text-42"/>
          <p:cNvSpPr/>
          <p:nvPr/>
        </p:nvSpPr>
        <p:spPr>
          <a:xfrm>
            <a:off x="10497294" y="6638479"/>
            <a:ext cx="1694706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OmniChannel - 2026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2026-07-13T01:43:42Z</dcterms:created>
  <dcterms:modified xsi:type="dcterms:W3CDTF">2026-07-13T01:43:42Z</dcterms:modified>
</cp:coreProperties>
</file>