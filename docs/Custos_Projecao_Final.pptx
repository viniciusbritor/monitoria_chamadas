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21"/>
    <p:sldId id="265" r:id="rId22"/>
  </p:sldIdLst>
  <p:notesMasterIdLst>
    <p:notesMasterId r:id="rId10"/>
  </p:notesMasterIdLst>
  <p:sldSz cx="12192000" cy="6858000"/>
  <p:notesSz cx="6858000" cy="12192000"/>
  <p:embeddedFontLst>
    <p:embeddedFont>
      <p:font typeface="Montserrat"/>
      <p:regular r:id="rId201314"/>
      <p:bold r:id="rId301314"/>
    </p:embeddedFont>
    <p:embeddedFont>
      <p:font typeface="Inter"/>
      <p:regular r:id="rId201315"/>
      <p:bold r:id="rId301315"/>
    </p:embeddedFont>
    <p:embeddedFont>
      <p:font typeface="Roboto"/>
      <p:regular r:id="rId201316"/>
      <p:bold r:id="rId3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301314" Type="http://schemas.openxmlformats.org/officeDocument/2006/relationships/font" Target="fonts/301314.fntdata"/><Relationship Id="rId301315" Type="http://schemas.openxmlformats.org/officeDocument/2006/relationships/font" Target="fonts/301315.fntdata"/><Relationship Id="rId301316" Type="http://schemas.openxmlformats.org/officeDocument/2006/relationships/font" Target="fonts/301316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image" Target="../media/image-4-32.png"/><Relationship Id="rId33" Type="http://schemas.openxmlformats.org/officeDocument/2006/relationships/image" Target="../media/image-4-33.png"/><Relationship Id="rId34" Type="http://schemas.openxmlformats.org/officeDocument/2006/relationships/image" Target="../media/image-4-34.png"/><Relationship Id="rId35" Type="http://schemas.openxmlformats.org/officeDocument/2006/relationships/image" Target="../media/image-4-35.png"/><Relationship Id="rId36" Type="http://schemas.openxmlformats.org/officeDocument/2006/relationships/image" Target="../media/image-4-36.png"/><Relationship Id="rId37" Type="http://schemas.openxmlformats.org/officeDocument/2006/relationships/image" Target="../media/image-4-37.png"/><Relationship Id="rId38" Type="http://schemas.openxmlformats.org/officeDocument/2006/relationships/image" Target="../media/image-4-38.png"/><Relationship Id="rId39" Type="http://schemas.openxmlformats.org/officeDocument/2006/relationships/image" Target="../media/image-4-39.png"/><Relationship Id="rId40" Type="http://schemas.openxmlformats.org/officeDocument/2006/relationships/image" Target="../media/image-4-40.png"/><Relationship Id="rId41" Type="http://schemas.openxmlformats.org/officeDocument/2006/relationships/image" Target="../media/image-4-41.png"/><Relationship Id="rId42" Type="http://schemas.openxmlformats.org/officeDocument/2006/relationships/image" Target="../media/image-4-42.png"/><Relationship Id="rId43" Type="http://schemas.openxmlformats.org/officeDocument/2006/relationships/image" Target="../media/image-4-43.png"/><Relationship Id="rId44" Type="http://schemas.openxmlformats.org/officeDocument/2006/relationships/image" Target="../media/image-4-44.png"/><Relationship Id="rId45" Type="http://schemas.openxmlformats.org/officeDocument/2006/relationships/image" Target="../media/image-4-45.png"/><Relationship Id="rId46" Type="http://schemas.openxmlformats.org/officeDocument/2006/relationships/image" Target="../media/image-4-46.png"/><Relationship Id="rId47" Type="http://schemas.openxmlformats.org/officeDocument/2006/relationships/slideLayout" Target="../slideLayouts/slideLayout1.xml"/><Relationship Id="rId4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961" y="102840"/>
            <a:ext cx="6034980" cy="5726311"/>
          </a:xfrm>
          <a:prstGeom prst="rect">
            <a:avLst/>
          </a:prstGeom>
        </p:spPr>
      </p:pic>
      <p:pic>
        <p:nvPicPr>
          <p:cNvPr id="4" name="SK-1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61" y="4539853"/>
            <a:ext cx="731490" cy="95994"/>
          </a:xfrm>
          <a:prstGeom prst="rect">
            <a:avLst/>
          </a:prstGeom>
        </p:spPr>
      </p:pic>
      <p:pic>
        <p:nvPicPr>
          <p:cNvPr id="5" name="SK-1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94822"/>
            <a:ext cx="12192000" cy="9525"/>
          </a:xfrm>
          <a:prstGeom prst="rect">
            <a:avLst/>
          </a:prstGeom>
        </p:spPr>
      </p:pic>
      <p:pic>
        <p:nvPicPr>
          <p:cNvPr id="6" name="SK-1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761" y="6240661"/>
            <a:ext cx="1036290" cy="562273"/>
          </a:xfrm>
          <a:prstGeom prst="rect">
            <a:avLst/>
          </a:prstGeom>
        </p:spPr>
      </p:pic>
      <p:pic>
        <p:nvPicPr>
          <p:cNvPr id="7" name="SK-1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1090" y="6240661"/>
            <a:ext cx="2316361" cy="562273"/>
          </a:xfrm>
          <a:prstGeom prst="rect">
            <a:avLst/>
          </a:prstGeom>
        </p:spPr>
      </p:pic>
      <p:pic>
        <p:nvPicPr>
          <p:cNvPr id="8" name="SK-1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18863" y="6494413"/>
            <a:ext cx="255984" cy="294829"/>
          </a:xfrm>
          <a:prstGeom prst="rect">
            <a:avLst/>
          </a:prstGeom>
        </p:spPr>
      </p:pic>
      <p:pic>
        <p:nvPicPr>
          <p:cNvPr id="9" name="SK-1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4777" y="4059882"/>
            <a:ext cx="304800" cy="253603"/>
          </a:xfrm>
          <a:prstGeom prst="rect">
            <a:avLst/>
          </a:prstGeom>
        </p:spPr>
      </p:pic>
      <p:pic>
        <p:nvPicPr>
          <p:cNvPr id="10" name="SK-1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06980" y="4059882"/>
            <a:ext cx="292596" cy="253603"/>
          </a:xfrm>
          <a:prstGeom prst="rect">
            <a:avLst/>
          </a:prstGeom>
        </p:spPr>
      </p:pic>
      <p:pic>
        <p:nvPicPr>
          <p:cNvPr id="11" name="SK-1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0392" y="4018657"/>
            <a:ext cx="499765" cy="335905"/>
          </a:xfrm>
          <a:prstGeom prst="rect">
            <a:avLst/>
          </a:prstGeom>
        </p:spPr>
      </p:pic>
      <p:sp>
        <p:nvSpPr>
          <p:cNvPr id="12" name="SK-1-text-11"/>
          <p:cNvSpPr/>
          <p:nvPr/>
        </p:nvSpPr>
        <p:spPr>
          <a:xfrm>
            <a:off x="743694" y="1158925"/>
            <a:ext cx="6156008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64B5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ECOSSISTEMA OMNICHANNEL</a:t>
            </a:r>
            <a:endParaRPr lang="en-US" sz="1725" dirty="0"/>
          </a:p>
        </p:txBody>
      </p:sp>
      <p:sp>
        <p:nvSpPr>
          <p:cNvPr id="13" name="SK-1-text-12"/>
          <p:cNvSpPr/>
          <p:nvPr/>
        </p:nvSpPr>
        <p:spPr>
          <a:xfrm>
            <a:off x="780157" y="1604665"/>
            <a:ext cx="4462165" cy="17898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Projeção</a:t>
            </a:r>
            <a:endParaRPr lang="en-US" sz="6300" dirty="0"/>
          </a:p>
          <a:p>
            <a:pPr algn="l" indent="0" marL="0">
              <a:lnSpc>
                <a:spcPts val="693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Custos</a:t>
            </a:r>
            <a:endParaRPr lang="en-US" sz="6300" dirty="0"/>
          </a:p>
        </p:txBody>
      </p:sp>
      <p:sp>
        <p:nvSpPr>
          <p:cNvPr id="14" name="SK-1-text-13"/>
          <p:cNvSpPr/>
          <p:nvPr/>
        </p:nvSpPr>
        <p:spPr>
          <a:xfrm>
            <a:off x="743694" y="3614142"/>
            <a:ext cx="5059561" cy="78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B0BEC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Infraestrutura GCP · LLM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B0BEC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DeepSeek · 4 Módulos Integrados</a:t>
            </a:r>
            <a:endParaRPr lang="en-US" sz="2400" dirty="0"/>
          </a:p>
        </p:txBody>
      </p:sp>
      <p:sp>
        <p:nvSpPr>
          <p:cNvPr id="15" name="SK-1-text-14"/>
          <p:cNvSpPr/>
          <p:nvPr/>
        </p:nvSpPr>
        <p:spPr>
          <a:xfrm>
            <a:off x="743694" y="5136505"/>
            <a:ext cx="4254996" cy="5622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B0BEC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Cenários: 500 · 1.000 · 5.000 chamadas/dia</a:t>
            </a:r>
            <a:endParaRPr lang="en-US" sz="165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B0BEC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com folga de segurança de 25%</a:t>
            </a:r>
            <a:endParaRPr lang="en-US" sz="1650" dirty="0"/>
          </a:p>
        </p:txBody>
      </p:sp>
      <p:sp>
        <p:nvSpPr>
          <p:cNvPr id="16" name="SK-1-text-15"/>
          <p:cNvSpPr/>
          <p:nvPr/>
        </p:nvSpPr>
        <p:spPr>
          <a:xfrm>
            <a:off x="7607796" y="2036713"/>
            <a:ext cx="889992" cy="3497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Monitoria de</a:t>
            </a:r>
            <a:endParaRPr lang="en-US" sz="105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Chamadas</a:t>
            </a:r>
            <a:endParaRPr lang="en-US" sz="1050" dirty="0"/>
          </a:p>
        </p:txBody>
      </p:sp>
      <p:sp>
        <p:nvSpPr>
          <p:cNvPr id="17" name="SK-1-text-16"/>
          <p:cNvSpPr/>
          <p:nvPr/>
        </p:nvSpPr>
        <p:spPr>
          <a:xfrm>
            <a:off x="8637984" y="2297311"/>
            <a:ext cx="154811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OmniChannel</a:t>
            </a:r>
            <a:endParaRPr lang="en-US" sz="1725" dirty="0"/>
          </a:p>
        </p:txBody>
      </p:sp>
      <p:sp>
        <p:nvSpPr>
          <p:cNvPr id="18" name="SK-1-text-17"/>
          <p:cNvSpPr/>
          <p:nvPr/>
        </p:nvSpPr>
        <p:spPr>
          <a:xfrm>
            <a:off x="10375255" y="2050405"/>
            <a:ext cx="731490" cy="3497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</a:t>
            </a:r>
            <a:endParaRPr lang="en-US" sz="105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Agente</a:t>
            </a:r>
            <a:endParaRPr lang="en-US" sz="1050" dirty="0"/>
          </a:p>
        </p:txBody>
      </p:sp>
      <p:sp>
        <p:nvSpPr>
          <p:cNvPr id="19" name="SK-1-text-18"/>
          <p:cNvSpPr/>
          <p:nvPr/>
        </p:nvSpPr>
        <p:spPr>
          <a:xfrm>
            <a:off x="7862292" y="3751213"/>
            <a:ext cx="393055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URA</a:t>
            </a:r>
            <a:endParaRPr lang="en-US" sz="1125" dirty="0"/>
          </a:p>
        </p:txBody>
      </p:sp>
      <p:sp>
        <p:nvSpPr>
          <p:cNvPr id="20" name="SK-1-text-19"/>
          <p:cNvSpPr/>
          <p:nvPr/>
        </p:nvSpPr>
        <p:spPr>
          <a:xfrm>
            <a:off x="10410379" y="3751213"/>
            <a:ext cx="673596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Voz/TTS</a:t>
            </a:r>
            <a:endParaRPr lang="en-US" sz="1125" dirty="0"/>
          </a:p>
        </p:txBody>
      </p:sp>
      <p:sp>
        <p:nvSpPr>
          <p:cNvPr id="21" name="SK-1-text-20"/>
          <p:cNvSpPr/>
          <p:nvPr/>
        </p:nvSpPr>
        <p:spPr>
          <a:xfrm>
            <a:off x="646063" y="6556177"/>
            <a:ext cx="1376363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90A4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</a:t>
            </a:r>
            <a:endParaRPr lang="en-US" sz="1275" dirty="0"/>
          </a:p>
        </p:txBody>
      </p:sp>
      <p:sp>
        <p:nvSpPr>
          <p:cNvPr id="22" name="SK-1-text-21"/>
          <p:cNvSpPr/>
          <p:nvPr/>
        </p:nvSpPr>
        <p:spPr>
          <a:xfrm>
            <a:off x="1475184" y="6556177"/>
            <a:ext cx="5327332" cy="1644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75" dirty="0">
                <a:solidFill>
                  <a:srgbClr val="90A4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Infraestrutura Cloud-Native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6769" cy="6858000"/>
          </a:xfrm>
          <a:prstGeom prst="rect">
            <a:avLst/>
          </a:prstGeom>
        </p:spPr>
      </p:pic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77" y="2029271"/>
            <a:ext cx="414486" cy="28575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494" y="6277124"/>
            <a:ext cx="7754094" cy="9525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7732" y="5856684"/>
            <a:ext cx="9525" cy="425053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1826" y="5856684"/>
            <a:ext cx="9525" cy="425053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8573" y="2797969"/>
            <a:ext cx="2267694" cy="3031182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9192" y="3404890"/>
            <a:ext cx="926455" cy="274290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1561" y="5179814"/>
            <a:ext cx="1109365" cy="9525"/>
          </a:xfrm>
          <a:prstGeom prst="rect">
            <a:avLst/>
          </a:prstGeom>
        </p:spPr>
      </p:pic>
      <p:pic>
        <p:nvPicPr>
          <p:cNvPr id="11" name="SK-2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1067" y="2797969"/>
            <a:ext cx="2279898" cy="3058567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91373" y="3404890"/>
            <a:ext cx="719286" cy="274290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96259" y="5179814"/>
            <a:ext cx="1109365" cy="95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5765" y="2797969"/>
            <a:ext cx="2267694" cy="3031182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68753" y="3404890"/>
            <a:ext cx="1109365" cy="274290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68753" y="5179814"/>
            <a:ext cx="1109365" cy="9525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0463" y="2797969"/>
            <a:ext cx="2279898" cy="3058567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77859" y="3404890"/>
            <a:ext cx="1109365" cy="274290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53600" y="5179814"/>
            <a:ext cx="1109365" cy="9525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24157" y="2352229"/>
            <a:ext cx="889992" cy="898327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02996" y="2352229"/>
            <a:ext cx="889992" cy="898327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06094" y="2352229"/>
            <a:ext cx="889992" cy="898327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33600" y="2352229"/>
            <a:ext cx="889992" cy="905173"/>
          </a:xfrm>
          <a:prstGeom prst="rect">
            <a:avLst/>
          </a:prstGeom>
        </p:spPr>
      </p:pic>
      <p:sp>
        <p:nvSpPr>
          <p:cNvPr id="24" name="SK-2-text-23"/>
          <p:cNvSpPr/>
          <p:nvPr/>
        </p:nvSpPr>
        <p:spPr>
          <a:xfrm>
            <a:off x="267295" y="2379613"/>
            <a:ext cx="438894" cy="13166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ver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A90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ECOSSISTEMA</a:t>
            </a:r>
            <a:endParaRPr lang="en-US" sz="750" dirty="0"/>
          </a:p>
        </p:txBody>
      </p:sp>
      <p:sp>
        <p:nvSpPr>
          <p:cNvPr id="25" name="SK-2-text-24"/>
          <p:cNvSpPr/>
          <p:nvPr/>
        </p:nvSpPr>
        <p:spPr>
          <a:xfrm>
            <a:off x="255984" y="3895279"/>
            <a:ext cx="1000125" cy="3497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150" dirty="0"/>
          </a:p>
        </p:txBody>
      </p:sp>
      <p:sp>
        <p:nvSpPr>
          <p:cNvPr id="26" name="SK-2-text-25"/>
          <p:cNvSpPr/>
          <p:nvPr/>
        </p:nvSpPr>
        <p:spPr>
          <a:xfrm>
            <a:off x="73075" y="4306788"/>
            <a:ext cx="135636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9B9B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Módulos</a:t>
            </a:r>
            <a:endParaRPr lang="en-US" sz="1200" dirty="0"/>
          </a:p>
        </p:txBody>
      </p:sp>
      <p:sp>
        <p:nvSpPr>
          <p:cNvPr id="27" name="SK-2-text-26"/>
          <p:cNvSpPr/>
          <p:nvPr/>
        </p:nvSpPr>
        <p:spPr>
          <a:xfrm>
            <a:off x="1426369" y="473125"/>
            <a:ext cx="1243013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4A90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175" dirty="0"/>
          </a:p>
        </p:txBody>
      </p:sp>
      <p:sp>
        <p:nvSpPr>
          <p:cNvPr id="28" name="SK-2-text-27"/>
          <p:cNvSpPr/>
          <p:nvPr/>
        </p:nvSpPr>
        <p:spPr>
          <a:xfrm>
            <a:off x="1450777" y="864096"/>
            <a:ext cx="10741223" cy="5073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675" b="1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 do Ecossistema</a:t>
            </a:r>
            <a:endParaRPr lang="en-US" sz="3675" dirty="0"/>
          </a:p>
        </p:txBody>
      </p:sp>
      <p:sp>
        <p:nvSpPr>
          <p:cNvPr id="29" name="SK-2-text-28"/>
          <p:cNvSpPr/>
          <p:nvPr/>
        </p:nvSpPr>
        <p:spPr>
          <a:xfrm>
            <a:off x="1450777" y="1433215"/>
            <a:ext cx="5682615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850" dirty="0">
                <a:solidFill>
                  <a:srgbClr val="4A709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4 Módulos</a:t>
            </a:r>
            <a:endParaRPr lang="en-US" sz="2850" dirty="0"/>
          </a:p>
        </p:txBody>
      </p:sp>
      <p:sp>
        <p:nvSpPr>
          <p:cNvPr id="30" name="SK-2-text-29"/>
          <p:cNvSpPr/>
          <p:nvPr/>
        </p:nvSpPr>
        <p:spPr>
          <a:xfrm>
            <a:off x="2304157" y="3442692"/>
            <a:ext cx="111442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ATIVO</a:t>
            </a:r>
            <a:endParaRPr lang="en-US" sz="1350" dirty="0"/>
          </a:p>
        </p:txBody>
      </p:sp>
      <p:sp>
        <p:nvSpPr>
          <p:cNvPr id="31" name="SK-2-text-30"/>
          <p:cNvSpPr/>
          <p:nvPr/>
        </p:nvSpPr>
        <p:spPr>
          <a:xfrm>
            <a:off x="1743373" y="3826669"/>
            <a:ext cx="1670298" cy="6103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Monitoria de</a:t>
            </a:r>
            <a:endParaRPr lang="en-US" sz="1950" dirty="0"/>
          </a:p>
          <a:p>
            <a:pPr algn="ctr" indent="0" marL="0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Chamadas</a:t>
            </a:r>
            <a:endParaRPr lang="en-US" sz="1950" dirty="0"/>
          </a:p>
        </p:txBody>
      </p:sp>
      <p:sp>
        <p:nvSpPr>
          <p:cNvPr id="32" name="SK-2-text-31"/>
          <p:cNvSpPr/>
          <p:nvPr/>
        </p:nvSpPr>
        <p:spPr>
          <a:xfrm>
            <a:off x="1755577" y="4581079"/>
            <a:ext cx="1645890" cy="4525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4A90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Transcrição e</a:t>
            </a:r>
            <a:endParaRPr lang="en-US" sz="135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4A90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avaliação QA via IA</a:t>
            </a:r>
            <a:endParaRPr lang="en-US" sz="1350" dirty="0"/>
          </a:p>
        </p:txBody>
      </p:sp>
      <p:sp>
        <p:nvSpPr>
          <p:cNvPr id="33" name="SK-2-text-32"/>
          <p:cNvSpPr/>
          <p:nvPr/>
        </p:nvSpPr>
        <p:spPr>
          <a:xfrm>
            <a:off x="1595586" y="5321796"/>
            <a:ext cx="197807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Run · DeepSeek LLM</a:t>
            </a:r>
            <a:endParaRPr lang="en-US" sz="1050" dirty="0"/>
          </a:p>
        </p:txBody>
      </p:sp>
      <p:sp>
        <p:nvSpPr>
          <p:cNvPr id="34" name="SK-2-text-33"/>
          <p:cNvSpPr/>
          <p:nvPr/>
        </p:nvSpPr>
        <p:spPr>
          <a:xfrm>
            <a:off x="4876800" y="3442692"/>
            <a:ext cx="111442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ATIVO</a:t>
            </a:r>
            <a:endParaRPr lang="en-US" sz="1350" dirty="0"/>
          </a:p>
        </p:txBody>
      </p:sp>
      <p:sp>
        <p:nvSpPr>
          <p:cNvPr id="35" name="SK-2-text-34"/>
          <p:cNvSpPr/>
          <p:nvPr/>
        </p:nvSpPr>
        <p:spPr>
          <a:xfrm>
            <a:off x="4437757" y="3826669"/>
            <a:ext cx="1426369" cy="65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</a:t>
            </a:r>
            <a:endParaRPr lang="en-US" sz="1950" dirty="0"/>
          </a:p>
          <a:p>
            <a:pPr algn="ctr" indent="0" marL="0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Agente</a:t>
            </a:r>
            <a:endParaRPr lang="en-US" sz="1950" dirty="0"/>
          </a:p>
        </p:txBody>
      </p:sp>
      <p:sp>
        <p:nvSpPr>
          <p:cNvPr id="36" name="SK-2-text-35"/>
          <p:cNvSpPr/>
          <p:nvPr/>
        </p:nvSpPr>
        <p:spPr>
          <a:xfrm>
            <a:off x="4218384" y="4581079"/>
            <a:ext cx="1877467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chatbots</a:t>
            </a:r>
            <a:endParaRPr lang="en-US" sz="135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simultâneos com LLM</a:t>
            </a:r>
            <a:endParaRPr lang="en-US" sz="1350" dirty="0"/>
          </a:p>
        </p:txBody>
      </p:sp>
      <p:sp>
        <p:nvSpPr>
          <p:cNvPr id="37" name="SK-2-text-36"/>
          <p:cNvSpPr/>
          <p:nvPr/>
        </p:nvSpPr>
        <p:spPr>
          <a:xfrm>
            <a:off x="4119265" y="5335488"/>
            <a:ext cx="207555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5x Cloud Run · SQL Postgres</a:t>
            </a:r>
            <a:endParaRPr lang="en-US" sz="1050" dirty="0"/>
          </a:p>
        </p:txBody>
      </p:sp>
      <p:sp>
        <p:nvSpPr>
          <p:cNvPr id="38" name="SK-2-text-37"/>
          <p:cNvSpPr/>
          <p:nvPr/>
        </p:nvSpPr>
        <p:spPr>
          <a:xfrm>
            <a:off x="7278588" y="3415159"/>
            <a:ext cx="1731645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B5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PROJEÇÃO</a:t>
            </a:r>
            <a:endParaRPr lang="en-US" sz="1350" dirty="0"/>
          </a:p>
        </p:txBody>
      </p:sp>
      <p:sp>
        <p:nvSpPr>
          <p:cNvPr id="39" name="SK-2-text-38"/>
          <p:cNvSpPr/>
          <p:nvPr/>
        </p:nvSpPr>
        <p:spPr>
          <a:xfrm>
            <a:off x="7022455" y="3826669"/>
            <a:ext cx="1438573" cy="65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URA</a:t>
            </a:r>
            <a:endParaRPr lang="en-US" sz="1950" dirty="0"/>
          </a:p>
          <a:p>
            <a:pPr algn="ctr" indent="0" marL="0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Inteligente</a:t>
            </a:r>
            <a:endParaRPr lang="en-US" sz="1950" dirty="0"/>
          </a:p>
        </p:txBody>
      </p:sp>
      <p:sp>
        <p:nvSpPr>
          <p:cNvPr id="40" name="SK-2-text-39"/>
          <p:cNvSpPr/>
          <p:nvPr/>
        </p:nvSpPr>
        <p:spPr>
          <a:xfrm>
            <a:off x="6876157" y="4581079"/>
            <a:ext cx="1743373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4A90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IVR com Speech-to-</a:t>
            </a:r>
            <a:endParaRPr lang="en-US" sz="135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4A90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 e roteamento</a:t>
            </a:r>
            <a:endParaRPr lang="en-US" sz="1350" dirty="0"/>
          </a:p>
        </p:txBody>
      </p:sp>
      <p:sp>
        <p:nvSpPr>
          <p:cNvPr id="41" name="SK-2-text-40"/>
          <p:cNvSpPr/>
          <p:nvPr/>
        </p:nvSpPr>
        <p:spPr>
          <a:xfrm>
            <a:off x="6740575" y="5335488"/>
            <a:ext cx="200248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STT · Whisper · LLM</a:t>
            </a:r>
            <a:endParaRPr lang="en-US" sz="1050" dirty="0"/>
          </a:p>
        </p:txBody>
      </p:sp>
      <p:sp>
        <p:nvSpPr>
          <p:cNvPr id="42" name="SK-2-text-41"/>
          <p:cNvSpPr/>
          <p:nvPr/>
        </p:nvSpPr>
        <p:spPr>
          <a:xfrm>
            <a:off x="9887694" y="3415159"/>
            <a:ext cx="1731645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B5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PROJEÇÃO</a:t>
            </a:r>
            <a:endParaRPr lang="en-US" sz="1350" dirty="0"/>
          </a:p>
        </p:txBody>
      </p:sp>
      <p:sp>
        <p:nvSpPr>
          <p:cNvPr id="43" name="SK-2-text-42"/>
          <p:cNvSpPr/>
          <p:nvPr/>
        </p:nvSpPr>
        <p:spPr>
          <a:xfrm>
            <a:off x="9851082" y="3826669"/>
            <a:ext cx="1024086" cy="6034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Síntese</a:t>
            </a:r>
            <a:endParaRPr lang="en-US" sz="1950" dirty="0"/>
          </a:p>
          <a:p>
            <a:pPr algn="ctr" indent="0" marL="0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0D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Voz</a:t>
            </a:r>
            <a:endParaRPr lang="en-US" sz="1950" dirty="0"/>
          </a:p>
        </p:txBody>
      </p:sp>
      <p:sp>
        <p:nvSpPr>
          <p:cNvPr id="44" name="SK-2-text-43"/>
          <p:cNvSpPr/>
          <p:nvPr/>
        </p:nvSpPr>
        <p:spPr>
          <a:xfrm>
            <a:off x="9668173" y="4581079"/>
            <a:ext cx="1377553" cy="4594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TTS com voice</a:t>
            </a:r>
            <a:endParaRPr lang="en-US" sz="135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cloning e styling</a:t>
            </a:r>
            <a:endParaRPr lang="en-US" sz="1350" dirty="0"/>
          </a:p>
        </p:txBody>
      </p:sp>
      <p:sp>
        <p:nvSpPr>
          <p:cNvPr id="45" name="SK-2-text-44"/>
          <p:cNvSpPr/>
          <p:nvPr/>
        </p:nvSpPr>
        <p:spPr>
          <a:xfrm>
            <a:off x="9398496" y="5335488"/>
            <a:ext cx="1905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MiniMax TTS · ElevenLabs</a:t>
            </a:r>
            <a:endParaRPr lang="en-US" sz="1050" dirty="0"/>
          </a:p>
        </p:txBody>
      </p:sp>
      <p:sp>
        <p:nvSpPr>
          <p:cNvPr id="46" name="SK-2-text-45"/>
          <p:cNvSpPr/>
          <p:nvPr/>
        </p:nvSpPr>
        <p:spPr>
          <a:xfrm>
            <a:off x="3765798" y="6185892"/>
            <a:ext cx="542835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Todos os módulos sobre infraestrutura GCP · Escala a zero quando ocioso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0079" cy="6858000"/>
          </a:xfrm>
          <a:prstGeom prst="rect">
            <a:avLst/>
          </a:prstGeom>
        </p:spPr>
      </p:pic>
      <p:pic>
        <p:nvPicPr>
          <p:cNvPr id="4" name="SK-3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79" y="6229052"/>
            <a:ext cx="11801773" cy="628799"/>
          </a:xfrm>
          <a:prstGeom prst="rect">
            <a:avLst/>
          </a:prstGeom>
        </p:spPr>
      </p:pic>
      <p:pic>
        <p:nvPicPr>
          <p:cNvPr id="5" name="SK-3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1049238"/>
            <a:ext cx="1828800" cy="102840"/>
          </a:xfrm>
          <a:prstGeom prst="rect">
            <a:avLst/>
          </a:prstGeom>
        </p:spPr>
      </p:pic>
      <p:pic>
        <p:nvPicPr>
          <p:cNvPr id="6" name="SK-3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88" y="1968103"/>
            <a:ext cx="3401467" cy="191988"/>
          </a:xfrm>
          <a:prstGeom prst="rect">
            <a:avLst/>
          </a:prstGeom>
        </p:spPr>
      </p:pic>
      <p:pic>
        <p:nvPicPr>
          <p:cNvPr id="7" name="SK-3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788" y="2091630"/>
            <a:ext cx="3401467" cy="3840361"/>
          </a:xfrm>
          <a:prstGeom prst="rect">
            <a:avLst/>
          </a:prstGeom>
        </p:spPr>
      </p:pic>
      <p:pic>
        <p:nvPicPr>
          <p:cNvPr id="8" name="SK-3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6282" y="5441752"/>
            <a:ext cx="1267867" cy="287982"/>
          </a:xfrm>
          <a:prstGeom prst="rect">
            <a:avLst/>
          </a:prstGeom>
        </p:spPr>
      </p:pic>
      <p:pic>
        <p:nvPicPr>
          <p:cNvPr id="9" name="SK-3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9961" y="2043559"/>
            <a:ext cx="3425875" cy="3902125"/>
          </a:xfrm>
          <a:prstGeom prst="rect">
            <a:avLst/>
          </a:prstGeom>
        </p:spPr>
      </p:pic>
      <p:pic>
        <p:nvPicPr>
          <p:cNvPr id="10" name="SK-3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1286" y="5441752"/>
            <a:ext cx="1755577" cy="287982"/>
          </a:xfrm>
          <a:prstGeom prst="rect">
            <a:avLst/>
          </a:prstGeom>
        </p:spPr>
      </p:pic>
      <p:pic>
        <p:nvPicPr>
          <p:cNvPr id="11" name="SK-3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5357" y="1968103"/>
            <a:ext cx="3511153" cy="191988"/>
          </a:xfrm>
          <a:prstGeom prst="rect">
            <a:avLst/>
          </a:prstGeom>
        </p:spPr>
      </p:pic>
      <p:pic>
        <p:nvPicPr>
          <p:cNvPr id="12" name="SK-3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5357" y="2091630"/>
            <a:ext cx="3511153" cy="3771900"/>
          </a:xfrm>
          <a:prstGeom prst="rect">
            <a:avLst/>
          </a:prstGeom>
        </p:spPr>
      </p:pic>
      <p:pic>
        <p:nvPicPr>
          <p:cNvPr id="13" name="SK-3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90384" y="5441752"/>
            <a:ext cx="2133600" cy="287982"/>
          </a:xfrm>
          <a:prstGeom prst="rect">
            <a:avLst/>
          </a:prstGeom>
        </p:spPr>
      </p:pic>
      <p:pic>
        <p:nvPicPr>
          <p:cNvPr id="14" name="SK-3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97467" y="2269927"/>
            <a:ext cx="670471" cy="767953"/>
          </a:xfrm>
          <a:prstGeom prst="rect">
            <a:avLst/>
          </a:prstGeom>
        </p:spPr>
      </p:pic>
      <p:pic>
        <p:nvPicPr>
          <p:cNvPr id="15" name="SK-3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30180" y="2304157"/>
            <a:ext cx="865584" cy="713184"/>
          </a:xfrm>
          <a:prstGeom prst="rect">
            <a:avLst/>
          </a:prstGeom>
        </p:spPr>
      </p:pic>
      <p:pic>
        <p:nvPicPr>
          <p:cNvPr id="16" name="SK-3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33600" y="2338536"/>
            <a:ext cx="877788" cy="644575"/>
          </a:xfrm>
          <a:prstGeom prst="rect">
            <a:avLst/>
          </a:prstGeom>
        </p:spPr>
      </p:pic>
      <p:sp>
        <p:nvSpPr>
          <p:cNvPr id="17" name="SK-3-text-16"/>
          <p:cNvSpPr/>
          <p:nvPr/>
        </p:nvSpPr>
        <p:spPr>
          <a:xfrm>
            <a:off x="1173212" y="438894"/>
            <a:ext cx="10101411" cy="5896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0028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de Precificação e Infraestrutura</a:t>
            </a:r>
            <a:endParaRPr lang="en-US" sz="3750" dirty="0"/>
          </a:p>
        </p:txBody>
      </p:sp>
      <p:sp>
        <p:nvSpPr>
          <p:cNvPr id="18" name="SK-3-text-17"/>
          <p:cNvSpPr/>
          <p:nvPr/>
        </p:nvSpPr>
        <p:spPr>
          <a:xfrm>
            <a:off x="2186136" y="1364605"/>
            <a:ext cx="8075563" cy="3222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28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Infraestrutura GCP · LLM DeepSeek V4 Flash · Folga de Segurança 25%</a:t>
            </a:r>
            <a:endParaRPr lang="en-US" sz="1800" dirty="0"/>
          </a:p>
        </p:txBody>
      </p:sp>
      <p:sp>
        <p:nvSpPr>
          <p:cNvPr id="19" name="SK-3-text-18"/>
          <p:cNvSpPr/>
          <p:nvPr/>
        </p:nvSpPr>
        <p:spPr>
          <a:xfrm>
            <a:off x="1418034" y="3216325"/>
            <a:ext cx="2308771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Infraestrutura GCP</a:t>
            </a:r>
            <a:endParaRPr lang="en-US" sz="1800" dirty="0"/>
          </a:p>
        </p:txBody>
      </p:sp>
      <p:sp>
        <p:nvSpPr>
          <p:cNvPr id="20" name="SK-3-text-19"/>
          <p:cNvSpPr/>
          <p:nvPr/>
        </p:nvSpPr>
        <p:spPr>
          <a:xfrm>
            <a:off x="1054298" y="3723829"/>
            <a:ext cx="3023890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Run com escala automática</a:t>
            </a:r>
            <a:endParaRPr lang="en-US" sz="1350" dirty="0"/>
          </a:p>
        </p:txBody>
      </p:sp>
      <p:sp>
        <p:nvSpPr>
          <p:cNvPr id="21" name="SK-3-text-20"/>
          <p:cNvSpPr/>
          <p:nvPr/>
        </p:nvSpPr>
        <p:spPr>
          <a:xfrm>
            <a:off x="1164134" y="4128492"/>
            <a:ext cx="2816721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Computa sob demanda (min=0)</a:t>
            </a:r>
            <a:endParaRPr lang="en-US" sz="1350" dirty="0"/>
          </a:p>
        </p:txBody>
      </p:sp>
      <p:sp>
        <p:nvSpPr>
          <p:cNvPr id="22" name="SK-3-text-21"/>
          <p:cNvSpPr/>
          <p:nvPr/>
        </p:nvSpPr>
        <p:spPr>
          <a:xfrm>
            <a:off x="1298228" y="4539853"/>
            <a:ext cx="2548384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Escala a zero quando ocioso</a:t>
            </a:r>
            <a:endParaRPr lang="en-US" sz="1350" dirty="0"/>
          </a:p>
        </p:txBody>
      </p:sp>
      <p:sp>
        <p:nvSpPr>
          <p:cNvPr id="23" name="SK-3-text-22"/>
          <p:cNvSpPr/>
          <p:nvPr/>
        </p:nvSpPr>
        <p:spPr>
          <a:xfrm>
            <a:off x="1334691" y="4937671"/>
            <a:ext cx="2487513" cy="260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Firestore · Storage · PubSub</a:t>
            </a:r>
            <a:endParaRPr lang="en-US" sz="1350" dirty="0"/>
          </a:p>
        </p:txBody>
      </p:sp>
      <p:sp>
        <p:nvSpPr>
          <p:cNvPr id="24" name="SK-3-text-23"/>
          <p:cNvSpPr/>
          <p:nvPr/>
        </p:nvSpPr>
        <p:spPr>
          <a:xfrm>
            <a:off x="2022277" y="5486400"/>
            <a:ext cx="1112490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Cloud-Native</a:t>
            </a:r>
            <a:endParaRPr lang="en-US" sz="1200" dirty="0"/>
          </a:p>
        </p:txBody>
      </p:sp>
      <p:sp>
        <p:nvSpPr>
          <p:cNvPr id="25" name="SK-3-text-24"/>
          <p:cNvSpPr/>
          <p:nvPr/>
        </p:nvSpPr>
        <p:spPr>
          <a:xfrm>
            <a:off x="4685407" y="3216325"/>
            <a:ext cx="2954982" cy="3153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DeepSeek V4 Flash</a:t>
            </a:r>
            <a:endParaRPr lang="en-US" sz="1800" dirty="0"/>
          </a:p>
        </p:txBody>
      </p:sp>
      <p:sp>
        <p:nvSpPr>
          <p:cNvPr id="26" name="SK-3-text-25"/>
          <p:cNvSpPr/>
          <p:nvPr/>
        </p:nvSpPr>
        <p:spPr>
          <a:xfrm>
            <a:off x="4858196" y="3723829"/>
            <a:ext cx="2609404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$0,14 / 1M tokens de entrada</a:t>
            </a:r>
            <a:endParaRPr lang="en-US" sz="1350" dirty="0"/>
          </a:p>
        </p:txBody>
      </p:sp>
      <p:sp>
        <p:nvSpPr>
          <p:cNvPr id="27" name="SK-3-text-26"/>
          <p:cNvSpPr/>
          <p:nvPr/>
        </p:nvSpPr>
        <p:spPr>
          <a:xfrm>
            <a:off x="4955828" y="4128492"/>
            <a:ext cx="2414290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$0,28 / 1M tokens de saída</a:t>
            </a:r>
            <a:endParaRPr lang="en-US" sz="1350" dirty="0"/>
          </a:p>
        </p:txBody>
      </p:sp>
      <p:sp>
        <p:nvSpPr>
          <p:cNvPr id="28" name="SK-3-text-27"/>
          <p:cNvSpPr/>
          <p:nvPr/>
        </p:nvSpPr>
        <p:spPr>
          <a:xfrm>
            <a:off x="5175200" y="4539853"/>
            <a:ext cx="197539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Fallback: MiniMax M3</a:t>
            </a:r>
            <a:endParaRPr lang="en-US" sz="1350" dirty="0"/>
          </a:p>
        </p:txBody>
      </p:sp>
      <p:sp>
        <p:nvSpPr>
          <p:cNvPr id="29" name="SK-3-text-28"/>
          <p:cNvSpPr/>
          <p:nvPr/>
        </p:nvSpPr>
        <p:spPr>
          <a:xfrm>
            <a:off x="4845993" y="4951363"/>
            <a:ext cx="2646015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 mais baixo do mercado</a:t>
            </a:r>
            <a:endParaRPr lang="en-US" sz="1350" dirty="0"/>
          </a:p>
        </p:txBody>
      </p:sp>
      <p:sp>
        <p:nvSpPr>
          <p:cNvPr id="30" name="SK-3-text-29"/>
          <p:cNvSpPr/>
          <p:nvPr/>
        </p:nvSpPr>
        <p:spPr>
          <a:xfrm>
            <a:off x="5362873" y="5486400"/>
            <a:ext cx="161225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Primário + Fallback</a:t>
            </a:r>
            <a:endParaRPr lang="en-US" sz="1200" dirty="0"/>
          </a:p>
        </p:txBody>
      </p:sp>
      <p:sp>
        <p:nvSpPr>
          <p:cNvPr id="31" name="SK-3-text-30"/>
          <p:cNvSpPr/>
          <p:nvPr/>
        </p:nvSpPr>
        <p:spPr>
          <a:xfrm>
            <a:off x="8623548" y="3223171"/>
            <a:ext cx="2430661" cy="3085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Folga de Segurança</a:t>
            </a:r>
            <a:endParaRPr lang="en-US" sz="1800" dirty="0"/>
          </a:p>
        </p:txBody>
      </p:sp>
      <p:sp>
        <p:nvSpPr>
          <p:cNvPr id="32" name="SK-3-text-31"/>
          <p:cNvSpPr/>
          <p:nvPr/>
        </p:nvSpPr>
        <p:spPr>
          <a:xfrm>
            <a:off x="8076902" y="3723829"/>
            <a:ext cx="3255615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+25% aplicado a todos os valores</a:t>
            </a:r>
            <a:endParaRPr lang="en-US" sz="1350" dirty="0"/>
          </a:p>
        </p:txBody>
      </p:sp>
      <p:sp>
        <p:nvSpPr>
          <p:cNvPr id="33" name="SK-3-text-32"/>
          <p:cNvSpPr/>
          <p:nvPr/>
        </p:nvSpPr>
        <p:spPr>
          <a:xfrm>
            <a:off x="8125718" y="4128492"/>
            <a:ext cx="3401913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Rateio de desenvolvimento: $500/mês</a:t>
            </a:r>
            <a:endParaRPr lang="en-US" sz="1350" dirty="0"/>
          </a:p>
        </p:txBody>
      </p:sp>
      <p:sp>
        <p:nvSpPr>
          <p:cNvPr id="34" name="SK-3-text-33"/>
          <p:cNvSpPr/>
          <p:nvPr/>
        </p:nvSpPr>
        <p:spPr>
          <a:xfrm>
            <a:off x="8089106" y="4539853"/>
            <a:ext cx="351160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Investimento total: $6.000 em 12 meses</a:t>
            </a:r>
            <a:endParaRPr lang="en-US" sz="1350" dirty="0"/>
          </a:p>
        </p:txBody>
      </p:sp>
      <p:sp>
        <p:nvSpPr>
          <p:cNvPr id="35" name="SK-3-text-34"/>
          <p:cNvSpPr/>
          <p:nvPr/>
        </p:nvSpPr>
        <p:spPr>
          <a:xfrm>
            <a:off x="8259812" y="4937671"/>
            <a:ext cx="3157984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Previsibilidade e controle financeiro</a:t>
            </a:r>
            <a:endParaRPr lang="en-US" sz="1350" dirty="0"/>
          </a:p>
        </p:txBody>
      </p:sp>
      <p:sp>
        <p:nvSpPr>
          <p:cNvPr id="36" name="SK-3-text-35"/>
          <p:cNvSpPr/>
          <p:nvPr/>
        </p:nvSpPr>
        <p:spPr>
          <a:xfrm>
            <a:off x="8861971" y="5486400"/>
            <a:ext cx="1953667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Conservador · Confiável</a:t>
            </a:r>
            <a:endParaRPr lang="en-US" sz="1200" dirty="0"/>
          </a:p>
        </p:txBody>
      </p:sp>
      <p:sp>
        <p:nvSpPr>
          <p:cNvPr id="37" name="SK-3-text-36"/>
          <p:cNvSpPr/>
          <p:nvPr/>
        </p:nvSpPr>
        <p:spPr>
          <a:xfrm>
            <a:off x="1269057" y="6418957"/>
            <a:ext cx="9995148" cy="2948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Todos os módulos compartilham a mesma base de infraestrutura — escala inteligente, custo mínimo.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1969" cy="6858000"/>
          </a:xfrm>
          <a:prstGeom prst="rect">
            <a:avLst/>
          </a:prstGeom>
        </p:spPr>
      </p:pic>
      <p:pic>
        <p:nvPicPr>
          <p:cNvPr id="4" name="SK-4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71" y="1562398"/>
            <a:ext cx="853380" cy="57150"/>
          </a:xfrm>
          <a:prstGeom prst="rect">
            <a:avLst/>
          </a:prstGeom>
        </p:spPr>
      </p:pic>
      <p:pic>
        <p:nvPicPr>
          <p:cNvPr id="5" name="SK-4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271" y="5431482"/>
            <a:ext cx="4949875" cy="994321"/>
          </a:xfrm>
          <a:prstGeom prst="rect">
            <a:avLst/>
          </a:prstGeom>
        </p:spPr>
      </p:pic>
      <p:pic>
        <p:nvPicPr>
          <p:cNvPr id="6" name="SK-4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271" y="5445175"/>
            <a:ext cx="97482" cy="939403"/>
          </a:xfrm>
          <a:prstGeom prst="rect">
            <a:avLst/>
          </a:prstGeom>
        </p:spPr>
      </p:pic>
      <p:pic>
        <p:nvPicPr>
          <p:cNvPr id="7" name="SK-4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6557" y="5417790"/>
            <a:ext cx="4949875" cy="1008013"/>
          </a:xfrm>
          <a:prstGeom prst="rect">
            <a:avLst/>
          </a:prstGeom>
        </p:spPr>
      </p:pic>
      <p:pic>
        <p:nvPicPr>
          <p:cNvPr id="8" name="SK-4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557" y="5445175"/>
            <a:ext cx="97482" cy="939403"/>
          </a:xfrm>
          <a:prstGeom prst="rect">
            <a:avLst/>
          </a:prstGeom>
        </p:spPr>
      </p:pic>
      <p:pic>
        <p:nvPicPr>
          <p:cNvPr id="9" name="SK-4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863" y="1865263"/>
            <a:ext cx="10802094" cy="3216325"/>
          </a:xfrm>
          <a:prstGeom prst="rect">
            <a:avLst/>
          </a:prstGeom>
        </p:spPr>
      </p:pic>
      <p:pic>
        <p:nvPicPr>
          <p:cNvPr id="10" name="SK-4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863" y="1865263"/>
            <a:ext cx="2160389" cy="476250"/>
          </a:xfrm>
          <a:prstGeom prst="rect">
            <a:avLst/>
          </a:prstGeom>
        </p:spPr>
      </p:pic>
      <p:pic>
        <p:nvPicPr>
          <p:cNvPr id="11" name="SK-4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11252" y="1865263"/>
            <a:ext cx="2160389" cy="476250"/>
          </a:xfrm>
          <a:prstGeom prst="rect">
            <a:avLst/>
          </a:prstGeom>
        </p:spPr>
      </p:pic>
      <p:pic>
        <p:nvPicPr>
          <p:cNvPr id="12" name="SK-4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71641" y="1865263"/>
            <a:ext cx="2160389" cy="476250"/>
          </a:xfrm>
          <a:prstGeom prst="rect">
            <a:avLst/>
          </a:prstGeom>
        </p:spPr>
      </p:pic>
      <p:pic>
        <p:nvPicPr>
          <p:cNvPr id="13" name="SK-4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32030" y="1865263"/>
            <a:ext cx="2160389" cy="476250"/>
          </a:xfrm>
          <a:prstGeom prst="rect">
            <a:avLst/>
          </a:prstGeom>
        </p:spPr>
      </p:pic>
      <p:pic>
        <p:nvPicPr>
          <p:cNvPr id="14" name="SK-4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2419" y="1865263"/>
            <a:ext cx="2160538" cy="476250"/>
          </a:xfrm>
          <a:prstGeom prst="rect">
            <a:avLst/>
          </a:prstGeom>
        </p:spPr>
      </p:pic>
      <p:pic>
        <p:nvPicPr>
          <p:cNvPr id="15" name="SK-4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0863" y="2341513"/>
            <a:ext cx="2160389" cy="712291"/>
          </a:xfrm>
          <a:prstGeom prst="rect">
            <a:avLst/>
          </a:prstGeom>
        </p:spPr>
      </p:pic>
      <p:pic>
        <p:nvPicPr>
          <p:cNvPr id="16" name="SK-4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11252" y="2341513"/>
            <a:ext cx="2160389" cy="712291"/>
          </a:xfrm>
          <a:prstGeom prst="rect">
            <a:avLst/>
          </a:prstGeom>
        </p:spPr>
      </p:pic>
      <p:pic>
        <p:nvPicPr>
          <p:cNvPr id="17" name="SK-4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71641" y="2341513"/>
            <a:ext cx="2160389" cy="712291"/>
          </a:xfrm>
          <a:prstGeom prst="rect">
            <a:avLst/>
          </a:prstGeom>
        </p:spPr>
      </p:pic>
      <p:pic>
        <p:nvPicPr>
          <p:cNvPr id="18" name="SK-4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32030" y="2341513"/>
            <a:ext cx="2160389" cy="712291"/>
          </a:xfrm>
          <a:prstGeom prst="rect">
            <a:avLst/>
          </a:prstGeom>
        </p:spPr>
      </p:pic>
      <p:pic>
        <p:nvPicPr>
          <p:cNvPr id="19" name="SK-4-img-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92419" y="2341513"/>
            <a:ext cx="2160538" cy="712291"/>
          </a:xfrm>
          <a:prstGeom prst="rect">
            <a:avLst/>
          </a:prstGeom>
        </p:spPr>
      </p:pic>
      <p:pic>
        <p:nvPicPr>
          <p:cNvPr id="20" name="SK-4-img-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94739" y="2559546"/>
            <a:ext cx="755898" cy="276225"/>
          </a:xfrm>
          <a:prstGeom prst="rect">
            <a:avLst/>
          </a:prstGeom>
        </p:spPr>
      </p:pic>
      <p:pic>
        <p:nvPicPr>
          <p:cNvPr id="21" name="SK-4-img-20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0863" y="3053804"/>
            <a:ext cx="10802094" cy="469404"/>
          </a:xfrm>
          <a:prstGeom prst="rect">
            <a:avLst/>
          </a:prstGeom>
        </p:spPr>
      </p:pic>
      <p:pic>
        <p:nvPicPr>
          <p:cNvPr id="22" name="SK-4-img-21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0863" y="3053804"/>
            <a:ext cx="2160389" cy="469404"/>
          </a:xfrm>
          <a:prstGeom prst="rect">
            <a:avLst/>
          </a:prstGeom>
        </p:spPr>
      </p:pic>
      <p:pic>
        <p:nvPicPr>
          <p:cNvPr id="23" name="SK-4-img-22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11252" y="3053804"/>
            <a:ext cx="2160389" cy="469404"/>
          </a:xfrm>
          <a:prstGeom prst="rect">
            <a:avLst/>
          </a:prstGeom>
        </p:spPr>
      </p:pic>
      <p:pic>
        <p:nvPicPr>
          <p:cNvPr id="24" name="SK-4-img-23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271641" y="3053804"/>
            <a:ext cx="2160389" cy="469404"/>
          </a:xfrm>
          <a:prstGeom prst="rect">
            <a:avLst/>
          </a:prstGeom>
        </p:spPr>
      </p:pic>
      <p:pic>
        <p:nvPicPr>
          <p:cNvPr id="25" name="SK-4-img-24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32030" y="3053804"/>
            <a:ext cx="2160389" cy="469404"/>
          </a:xfrm>
          <a:prstGeom prst="rect">
            <a:avLst/>
          </a:prstGeom>
        </p:spPr>
      </p:pic>
      <p:pic>
        <p:nvPicPr>
          <p:cNvPr id="26" name="SK-4-img-25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592419" y="3053804"/>
            <a:ext cx="2160538" cy="469404"/>
          </a:xfrm>
          <a:prstGeom prst="rect">
            <a:avLst/>
          </a:prstGeom>
        </p:spPr>
      </p:pic>
      <p:pic>
        <p:nvPicPr>
          <p:cNvPr id="27" name="SK-4-img-26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94739" y="3150394"/>
            <a:ext cx="755898" cy="276225"/>
          </a:xfrm>
          <a:prstGeom prst="rect">
            <a:avLst/>
          </a:prstGeom>
        </p:spPr>
      </p:pic>
      <p:pic>
        <p:nvPicPr>
          <p:cNvPr id="28" name="SK-4-img-27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50863" y="3523208"/>
            <a:ext cx="2160389" cy="469404"/>
          </a:xfrm>
          <a:prstGeom prst="rect">
            <a:avLst/>
          </a:prstGeom>
        </p:spPr>
      </p:pic>
      <p:pic>
        <p:nvPicPr>
          <p:cNvPr id="29" name="SK-4-img-28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111252" y="3523208"/>
            <a:ext cx="2160389" cy="469404"/>
          </a:xfrm>
          <a:prstGeom prst="rect">
            <a:avLst/>
          </a:prstGeom>
        </p:spPr>
      </p:pic>
      <p:pic>
        <p:nvPicPr>
          <p:cNvPr id="30" name="SK-4-img-29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271641" y="3523208"/>
            <a:ext cx="2160389" cy="469404"/>
          </a:xfrm>
          <a:prstGeom prst="rect">
            <a:avLst/>
          </a:prstGeom>
        </p:spPr>
      </p:pic>
      <p:pic>
        <p:nvPicPr>
          <p:cNvPr id="31" name="SK-4-img-30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32030" y="3523208"/>
            <a:ext cx="2160389" cy="469404"/>
          </a:xfrm>
          <a:prstGeom prst="rect">
            <a:avLst/>
          </a:prstGeom>
        </p:spPr>
      </p:pic>
      <p:pic>
        <p:nvPicPr>
          <p:cNvPr id="32" name="SK-4-img-31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592419" y="3523208"/>
            <a:ext cx="2160538" cy="469404"/>
          </a:xfrm>
          <a:prstGeom prst="rect">
            <a:avLst/>
          </a:prstGeom>
        </p:spPr>
      </p:pic>
      <p:pic>
        <p:nvPicPr>
          <p:cNvPr id="33" name="SK-4-img-32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171658" y="3619798"/>
            <a:ext cx="1002060" cy="276225"/>
          </a:xfrm>
          <a:prstGeom prst="rect">
            <a:avLst/>
          </a:prstGeom>
        </p:spPr>
      </p:pic>
      <p:pic>
        <p:nvPicPr>
          <p:cNvPr id="34" name="SK-4-img-33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50863" y="3992612"/>
            <a:ext cx="10802094" cy="469850"/>
          </a:xfrm>
          <a:prstGeom prst="rect">
            <a:avLst/>
          </a:prstGeom>
        </p:spPr>
      </p:pic>
      <p:pic>
        <p:nvPicPr>
          <p:cNvPr id="35" name="SK-4-img-34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50863" y="3992612"/>
            <a:ext cx="2160389" cy="469850"/>
          </a:xfrm>
          <a:prstGeom prst="rect">
            <a:avLst/>
          </a:prstGeom>
        </p:spPr>
      </p:pic>
      <p:pic>
        <p:nvPicPr>
          <p:cNvPr id="36" name="SK-4-img-35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111252" y="3992612"/>
            <a:ext cx="2160389" cy="469850"/>
          </a:xfrm>
          <a:prstGeom prst="rect">
            <a:avLst/>
          </a:prstGeom>
        </p:spPr>
      </p:pic>
      <p:pic>
        <p:nvPicPr>
          <p:cNvPr id="37" name="SK-4-img-36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271641" y="3992612"/>
            <a:ext cx="2160389" cy="469850"/>
          </a:xfrm>
          <a:prstGeom prst="rect">
            <a:avLst/>
          </a:prstGeom>
        </p:spPr>
      </p:pic>
      <p:pic>
        <p:nvPicPr>
          <p:cNvPr id="38" name="SK-4-img-37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32030" y="3992612"/>
            <a:ext cx="2160389" cy="469850"/>
          </a:xfrm>
          <a:prstGeom prst="rect">
            <a:avLst/>
          </a:prstGeom>
        </p:spPr>
      </p:pic>
      <p:pic>
        <p:nvPicPr>
          <p:cNvPr id="39" name="SK-4-img-38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592419" y="3992612"/>
            <a:ext cx="2160538" cy="469850"/>
          </a:xfrm>
          <a:prstGeom prst="rect">
            <a:avLst/>
          </a:prstGeom>
        </p:spPr>
      </p:pic>
      <p:pic>
        <p:nvPicPr>
          <p:cNvPr id="40" name="SK-4-img-39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171658" y="4089350"/>
            <a:ext cx="1002060" cy="276225"/>
          </a:xfrm>
          <a:prstGeom prst="rect">
            <a:avLst/>
          </a:prstGeom>
        </p:spPr>
      </p:pic>
      <p:pic>
        <p:nvPicPr>
          <p:cNvPr id="41" name="SK-4-img-40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50863" y="4462463"/>
            <a:ext cx="2160389" cy="619125"/>
          </a:xfrm>
          <a:prstGeom prst="rect">
            <a:avLst/>
          </a:prstGeom>
        </p:spPr>
      </p:pic>
      <p:pic>
        <p:nvPicPr>
          <p:cNvPr id="42" name="SK-4-img-41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111252" y="4462463"/>
            <a:ext cx="2160389" cy="619125"/>
          </a:xfrm>
          <a:prstGeom prst="rect">
            <a:avLst/>
          </a:prstGeom>
        </p:spPr>
      </p:pic>
      <p:pic>
        <p:nvPicPr>
          <p:cNvPr id="43" name="SK-4-img-42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271641" y="4462463"/>
            <a:ext cx="2160389" cy="619125"/>
          </a:xfrm>
          <a:prstGeom prst="rect">
            <a:avLst/>
          </a:prstGeom>
        </p:spPr>
      </p:pic>
      <p:pic>
        <p:nvPicPr>
          <p:cNvPr id="44" name="SK-4-img-43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32030" y="4462463"/>
            <a:ext cx="2160389" cy="619125"/>
          </a:xfrm>
          <a:prstGeom prst="rect">
            <a:avLst/>
          </a:prstGeom>
        </p:spPr>
      </p:pic>
      <p:pic>
        <p:nvPicPr>
          <p:cNvPr id="45" name="SK-4-img-44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592419" y="4462463"/>
            <a:ext cx="2160538" cy="619125"/>
          </a:xfrm>
          <a:prstGeom prst="rect">
            <a:avLst/>
          </a:prstGeom>
        </p:spPr>
      </p:pic>
      <p:pic>
        <p:nvPicPr>
          <p:cNvPr id="46" name="SK-4-img-45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949380" y="5705773"/>
            <a:ext cx="438894" cy="397669"/>
          </a:xfrm>
          <a:prstGeom prst="rect">
            <a:avLst/>
          </a:prstGeom>
        </p:spPr>
      </p:pic>
      <p:pic>
        <p:nvPicPr>
          <p:cNvPr id="47" name="SK-4-img-46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243459" y="5733157"/>
            <a:ext cx="475357" cy="335905"/>
          </a:xfrm>
          <a:prstGeom prst="rect">
            <a:avLst/>
          </a:prstGeom>
        </p:spPr>
      </p:pic>
      <p:sp>
        <p:nvSpPr>
          <p:cNvPr id="48" name="SK-4-text-47"/>
          <p:cNvSpPr/>
          <p:nvPr/>
        </p:nvSpPr>
        <p:spPr>
          <a:xfrm>
            <a:off x="1093738" y="1865263"/>
            <a:ext cx="196036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| MÓDULO |</a:t>
            </a:r>
            <a:endParaRPr lang="en-US" sz="1350" dirty="0"/>
          </a:p>
        </p:txBody>
      </p:sp>
      <p:sp>
        <p:nvSpPr>
          <p:cNvPr id="49" name="SK-4-text-48"/>
          <p:cNvSpPr/>
          <p:nvPr/>
        </p:nvSpPr>
        <p:spPr>
          <a:xfrm>
            <a:off x="3068389" y="1865263"/>
            <a:ext cx="196036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500 chamadas/dia</a:t>
            </a:r>
            <a:endParaRPr lang="en-US" sz="1350" dirty="0"/>
          </a:p>
        </p:txBody>
      </p:sp>
      <p:sp>
        <p:nvSpPr>
          <p:cNvPr id="50" name="SK-4-text-49"/>
          <p:cNvSpPr/>
          <p:nvPr/>
        </p:nvSpPr>
        <p:spPr>
          <a:xfrm>
            <a:off x="5228779" y="1865263"/>
            <a:ext cx="196036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1.000 chamadas/dia</a:t>
            </a:r>
            <a:endParaRPr lang="en-US" sz="1350" dirty="0"/>
          </a:p>
        </p:txBody>
      </p:sp>
      <p:sp>
        <p:nvSpPr>
          <p:cNvPr id="51" name="SK-4-text-50"/>
          <p:cNvSpPr/>
          <p:nvPr/>
        </p:nvSpPr>
        <p:spPr>
          <a:xfrm>
            <a:off x="7389168" y="1865263"/>
            <a:ext cx="196036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5.000 chamadas/dia</a:t>
            </a:r>
            <a:endParaRPr lang="en-US" sz="1350" dirty="0"/>
          </a:p>
        </p:txBody>
      </p:sp>
      <p:sp>
        <p:nvSpPr>
          <p:cNvPr id="52" name="SK-4-text-51"/>
          <p:cNvSpPr/>
          <p:nvPr/>
        </p:nvSpPr>
        <p:spPr>
          <a:xfrm>
            <a:off x="9735294" y="1865263"/>
            <a:ext cx="196051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| STATUS |</a:t>
            </a:r>
            <a:endParaRPr lang="en-US" sz="1350" dirty="0"/>
          </a:p>
        </p:txBody>
      </p:sp>
      <p:sp>
        <p:nvSpPr>
          <p:cNvPr id="53" name="SK-4-text-52"/>
          <p:cNvSpPr/>
          <p:nvPr/>
        </p:nvSpPr>
        <p:spPr>
          <a:xfrm>
            <a:off x="1093738" y="2341513"/>
            <a:ext cx="1874639" cy="7122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Monitoria de Chamadas</a:t>
            </a:r>
            <a:endParaRPr lang="en-US" sz="1425" dirty="0"/>
          </a:p>
        </p:txBody>
      </p:sp>
      <p:sp>
        <p:nvSpPr>
          <p:cNvPr id="54" name="SK-4-text-53"/>
          <p:cNvSpPr/>
          <p:nvPr/>
        </p:nvSpPr>
        <p:spPr>
          <a:xfrm>
            <a:off x="3066008" y="2341513"/>
            <a:ext cx="1965127" cy="7122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$539/mês</a:t>
            </a:r>
            <a:endParaRPr lang="en-US" sz="1425" dirty="0"/>
          </a:p>
        </p:txBody>
      </p:sp>
      <p:sp>
        <p:nvSpPr>
          <p:cNvPr id="55" name="SK-4-text-54"/>
          <p:cNvSpPr/>
          <p:nvPr/>
        </p:nvSpPr>
        <p:spPr>
          <a:xfrm>
            <a:off x="5226397" y="2341513"/>
            <a:ext cx="1965127" cy="7122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$568/mês</a:t>
            </a:r>
            <a:endParaRPr lang="en-US" sz="1425" dirty="0"/>
          </a:p>
        </p:txBody>
      </p:sp>
      <p:sp>
        <p:nvSpPr>
          <p:cNvPr id="56" name="SK-4-text-55"/>
          <p:cNvSpPr/>
          <p:nvPr/>
        </p:nvSpPr>
        <p:spPr>
          <a:xfrm>
            <a:off x="7386786" y="2341513"/>
            <a:ext cx="1965127" cy="7122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$788/mês</a:t>
            </a:r>
            <a:endParaRPr lang="en-US" sz="1425" dirty="0"/>
          </a:p>
        </p:txBody>
      </p:sp>
      <p:sp>
        <p:nvSpPr>
          <p:cNvPr id="57" name="SK-4-text-56"/>
          <p:cNvSpPr/>
          <p:nvPr/>
        </p:nvSpPr>
        <p:spPr>
          <a:xfrm>
            <a:off x="10256639" y="2559546"/>
            <a:ext cx="56539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5A2B"/>
                </a:solidFill>
              </a:rPr>
              <a:t>Ativo</a:t>
            </a:r>
            <a:endParaRPr lang="en-US" sz="1125" dirty="0"/>
          </a:p>
        </p:txBody>
      </p:sp>
      <p:sp>
        <p:nvSpPr>
          <p:cNvPr id="58" name="SK-4-text-57"/>
          <p:cNvSpPr/>
          <p:nvPr/>
        </p:nvSpPr>
        <p:spPr>
          <a:xfrm>
            <a:off x="1093738" y="3053804"/>
            <a:ext cx="2917168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WhatsApp Agente</a:t>
            </a:r>
            <a:endParaRPr lang="en-US" sz="1425" dirty="0"/>
          </a:p>
        </p:txBody>
      </p:sp>
      <p:sp>
        <p:nvSpPr>
          <p:cNvPr id="59" name="SK-4-text-58"/>
          <p:cNvSpPr/>
          <p:nvPr/>
        </p:nvSpPr>
        <p:spPr>
          <a:xfrm>
            <a:off x="3066008" y="3053804"/>
            <a:ext cx="1965127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$113/mês</a:t>
            </a:r>
            <a:endParaRPr lang="en-US" sz="1425" dirty="0"/>
          </a:p>
        </p:txBody>
      </p:sp>
      <p:sp>
        <p:nvSpPr>
          <p:cNvPr id="60" name="SK-4-text-59"/>
          <p:cNvSpPr/>
          <p:nvPr/>
        </p:nvSpPr>
        <p:spPr>
          <a:xfrm>
            <a:off x="5226397" y="3053804"/>
            <a:ext cx="1965127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$113/mês</a:t>
            </a:r>
            <a:endParaRPr lang="en-US" sz="1425" dirty="0"/>
          </a:p>
        </p:txBody>
      </p:sp>
      <p:sp>
        <p:nvSpPr>
          <p:cNvPr id="61" name="SK-4-text-60"/>
          <p:cNvSpPr/>
          <p:nvPr/>
        </p:nvSpPr>
        <p:spPr>
          <a:xfrm>
            <a:off x="7386786" y="3053804"/>
            <a:ext cx="1965127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$113/mês</a:t>
            </a:r>
            <a:endParaRPr lang="en-US" sz="1425" dirty="0"/>
          </a:p>
        </p:txBody>
      </p:sp>
      <p:sp>
        <p:nvSpPr>
          <p:cNvPr id="62" name="SK-4-text-61"/>
          <p:cNvSpPr/>
          <p:nvPr/>
        </p:nvSpPr>
        <p:spPr>
          <a:xfrm>
            <a:off x="10256639" y="3150394"/>
            <a:ext cx="56539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A5A2B"/>
                </a:solidFill>
              </a:rPr>
              <a:t>Ativo</a:t>
            </a:r>
            <a:endParaRPr lang="en-US" sz="1125" dirty="0"/>
          </a:p>
        </p:txBody>
      </p:sp>
      <p:sp>
        <p:nvSpPr>
          <p:cNvPr id="63" name="SK-4-text-62"/>
          <p:cNvSpPr/>
          <p:nvPr/>
        </p:nvSpPr>
        <p:spPr>
          <a:xfrm>
            <a:off x="1093738" y="3523208"/>
            <a:ext cx="4047841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URA (IVR Inteligente)</a:t>
            </a:r>
            <a:endParaRPr lang="en-US" sz="1425" dirty="0"/>
          </a:p>
        </p:txBody>
      </p:sp>
      <p:sp>
        <p:nvSpPr>
          <p:cNvPr id="64" name="SK-4-text-63"/>
          <p:cNvSpPr/>
          <p:nvPr/>
        </p:nvSpPr>
        <p:spPr>
          <a:xfrm>
            <a:off x="3066008" y="3523208"/>
            <a:ext cx="1965127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$78/mês</a:t>
            </a:r>
            <a:endParaRPr lang="en-US" sz="1425" dirty="0"/>
          </a:p>
        </p:txBody>
      </p:sp>
      <p:sp>
        <p:nvSpPr>
          <p:cNvPr id="65" name="SK-4-text-64"/>
          <p:cNvSpPr/>
          <p:nvPr/>
        </p:nvSpPr>
        <p:spPr>
          <a:xfrm>
            <a:off x="5226397" y="3523208"/>
            <a:ext cx="1965127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$130/mês</a:t>
            </a:r>
            <a:endParaRPr lang="en-US" sz="1425" dirty="0"/>
          </a:p>
        </p:txBody>
      </p:sp>
      <p:sp>
        <p:nvSpPr>
          <p:cNvPr id="66" name="SK-4-text-65"/>
          <p:cNvSpPr/>
          <p:nvPr/>
        </p:nvSpPr>
        <p:spPr>
          <a:xfrm>
            <a:off x="7386786" y="3523208"/>
            <a:ext cx="1965127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$550/mês</a:t>
            </a:r>
            <a:endParaRPr lang="en-US" sz="1425" dirty="0"/>
          </a:p>
        </p:txBody>
      </p:sp>
      <p:sp>
        <p:nvSpPr>
          <p:cNvPr id="67" name="SK-4-text-66"/>
          <p:cNvSpPr/>
          <p:nvPr/>
        </p:nvSpPr>
        <p:spPr>
          <a:xfrm>
            <a:off x="10133558" y="3619798"/>
            <a:ext cx="81156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B4D89"/>
                </a:solidFill>
              </a:rPr>
              <a:t>Projeção</a:t>
            </a:r>
            <a:endParaRPr lang="en-US" sz="1125" dirty="0"/>
          </a:p>
        </p:txBody>
      </p:sp>
      <p:sp>
        <p:nvSpPr>
          <p:cNvPr id="68" name="SK-4-text-67"/>
          <p:cNvSpPr/>
          <p:nvPr/>
        </p:nvSpPr>
        <p:spPr>
          <a:xfrm>
            <a:off x="1093738" y="3992612"/>
            <a:ext cx="1965127" cy="469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Voz / TTS</a:t>
            </a:r>
            <a:endParaRPr lang="en-US" sz="1425" dirty="0"/>
          </a:p>
        </p:txBody>
      </p:sp>
      <p:sp>
        <p:nvSpPr>
          <p:cNvPr id="69" name="SK-4-text-68"/>
          <p:cNvSpPr/>
          <p:nvPr/>
        </p:nvSpPr>
        <p:spPr>
          <a:xfrm>
            <a:off x="3066008" y="3992612"/>
            <a:ext cx="1965127" cy="469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$129/mês</a:t>
            </a:r>
            <a:endParaRPr lang="en-US" sz="1425" dirty="0"/>
          </a:p>
        </p:txBody>
      </p:sp>
      <p:sp>
        <p:nvSpPr>
          <p:cNvPr id="70" name="SK-4-text-69"/>
          <p:cNvSpPr/>
          <p:nvPr/>
        </p:nvSpPr>
        <p:spPr>
          <a:xfrm>
            <a:off x="5226397" y="3992612"/>
            <a:ext cx="1965127" cy="469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$239/mês</a:t>
            </a:r>
            <a:endParaRPr lang="en-US" sz="1425" dirty="0"/>
          </a:p>
        </p:txBody>
      </p:sp>
      <p:sp>
        <p:nvSpPr>
          <p:cNvPr id="71" name="SK-4-text-70"/>
          <p:cNvSpPr/>
          <p:nvPr/>
        </p:nvSpPr>
        <p:spPr>
          <a:xfrm>
            <a:off x="7386786" y="3992612"/>
            <a:ext cx="1965127" cy="469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425" dirty="0">
                <a:solidFill>
                  <a:srgbClr val="333333"/>
                </a:solidFill>
              </a:rPr>
              <a:t>$1.109/mês</a:t>
            </a:r>
            <a:endParaRPr lang="en-US" sz="1425" dirty="0"/>
          </a:p>
        </p:txBody>
      </p:sp>
      <p:sp>
        <p:nvSpPr>
          <p:cNvPr id="72" name="SK-4-text-71"/>
          <p:cNvSpPr/>
          <p:nvPr/>
        </p:nvSpPr>
        <p:spPr>
          <a:xfrm>
            <a:off x="10133558" y="4089350"/>
            <a:ext cx="81156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B4D89"/>
                </a:solidFill>
              </a:rPr>
              <a:t>Projeção</a:t>
            </a:r>
            <a:endParaRPr lang="en-US" sz="1125" dirty="0"/>
          </a:p>
        </p:txBody>
      </p:sp>
      <p:sp>
        <p:nvSpPr>
          <p:cNvPr id="73" name="SK-4-text-72"/>
          <p:cNvSpPr/>
          <p:nvPr/>
        </p:nvSpPr>
        <p:spPr>
          <a:xfrm>
            <a:off x="1093738" y="4462463"/>
            <a:ext cx="1874639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TOTAL ECOSSISTEMA</a:t>
            </a:r>
            <a:endParaRPr lang="en-US" sz="1500" dirty="0"/>
          </a:p>
        </p:txBody>
      </p:sp>
      <p:sp>
        <p:nvSpPr>
          <p:cNvPr id="74" name="SK-4-text-73"/>
          <p:cNvSpPr/>
          <p:nvPr/>
        </p:nvSpPr>
        <p:spPr>
          <a:xfrm>
            <a:off x="3206502" y="4581525"/>
            <a:ext cx="196988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$859/mês</a:t>
            </a:r>
            <a:endParaRPr lang="en-US" sz="1500" dirty="0"/>
          </a:p>
        </p:txBody>
      </p:sp>
      <p:sp>
        <p:nvSpPr>
          <p:cNvPr id="75" name="SK-4-text-74"/>
          <p:cNvSpPr/>
          <p:nvPr/>
        </p:nvSpPr>
        <p:spPr>
          <a:xfrm>
            <a:off x="3216027" y="4819650"/>
            <a:ext cx="1950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975" dirty="0">
                <a:solidFill>
                  <a:srgbClr val="A0B2CF"/>
                </a:solidFill>
              </a:rPr>
              <a:t>R$ 4.725</a:t>
            </a:r>
            <a:endParaRPr lang="en-US" sz="975" dirty="0"/>
          </a:p>
        </p:txBody>
      </p:sp>
      <p:sp>
        <p:nvSpPr>
          <p:cNvPr id="76" name="SK-4-text-75"/>
          <p:cNvSpPr/>
          <p:nvPr/>
        </p:nvSpPr>
        <p:spPr>
          <a:xfrm>
            <a:off x="5366891" y="4581525"/>
            <a:ext cx="196988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$1.050/mês</a:t>
            </a:r>
            <a:endParaRPr lang="en-US" sz="1500" dirty="0"/>
          </a:p>
        </p:txBody>
      </p:sp>
      <p:sp>
        <p:nvSpPr>
          <p:cNvPr id="77" name="SK-4-text-76"/>
          <p:cNvSpPr/>
          <p:nvPr/>
        </p:nvSpPr>
        <p:spPr>
          <a:xfrm>
            <a:off x="5376416" y="4819650"/>
            <a:ext cx="1950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975" dirty="0">
                <a:solidFill>
                  <a:srgbClr val="A0B2CF"/>
                </a:solidFill>
              </a:rPr>
              <a:t>R$ 5.775</a:t>
            </a:r>
            <a:endParaRPr lang="en-US" sz="975" dirty="0"/>
          </a:p>
        </p:txBody>
      </p:sp>
      <p:sp>
        <p:nvSpPr>
          <p:cNvPr id="78" name="SK-4-text-77"/>
          <p:cNvSpPr/>
          <p:nvPr/>
        </p:nvSpPr>
        <p:spPr>
          <a:xfrm>
            <a:off x="7527280" y="4581525"/>
            <a:ext cx="196988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$2.560/mês</a:t>
            </a:r>
            <a:endParaRPr lang="en-US" sz="1500" dirty="0"/>
          </a:p>
        </p:txBody>
      </p:sp>
      <p:sp>
        <p:nvSpPr>
          <p:cNvPr id="79" name="SK-4-text-78"/>
          <p:cNvSpPr/>
          <p:nvPr/>
        </p:nvSpPr>
        <p:spPr>
          <a:xfrm>
            <a:off x="7536805" y="4819650"/>
            <a:ext cx="1950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975" dirty="0">
                <a:solidFill>
                  <a:srgbClr val="A0B2CF"/>
                </a:solidFill>
              </a:rPr>
              <a:t>R$ 14.080</a:t>
            </a:r>
            <a:endParaRPr lang="en-US" sz="975" dirty="0"/>
          </a:p>
        </p:txBody>
      </p:sp>
      <p:sp>
        <p:nvSpPr>
          <p:cNvPr id="80" name="SK-4-text-79"/>
          <p:cNvSpPr/>
          <p:nvPr/>
        </p:nvSpPr>
        <p:spPr>
          <a:xfrm>
            <a:off x="9544794" y="4462463"/>
            <a:ext cx="1970038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—</a:t>
            </a:r>
            <a:endParaRPr lang="en-US" sz="1500" dirty="0"/>
          </a:p>
        </p:txBody>
      </p:sp>
      <p:sp>
        <p:nvSpPr>
          <p:cNvPr id="81" name="SK-4-text-80"/>
          <p:cNvSpPr/>
          <p:nvPr/>
        </p:nvSpPr>
        <p:spPr>
          <a:xfrm>
            <a:off x="146298" y="2345382"/>
            <a:ext cx="207169" cy="21944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ver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INVESTIMENTO MENSAL</a:t>
            </a:r>
            <a:endParaRPr lang="en-US" sz="750" dirty="0"/>
          </a:p>
        </p:txBody>
      </p:sp>
      <p:sp>
        <p:nvSpPr>
          <p:cNvPr id="82" name="SK-4-text-81"/>
          <p:cNvSpPr/>
          <p:nvPr/>
        </p:nvSpPr>
        <p:spPr>
          <a:xfrm>
            <a:off x="938659" y="377130"/>
            <a:ext cx="421671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CUSTOS CONSOLIDADOS</a:t>
            </a:r>
            <a:endParaRPr lang="en-US" sz="1425" dirty="0"/>
          </a:p>
        </p:txBody>
      </p:sp>
      <p:sp>
        <p:nvSpPr>
          <p:cNvPr id="83" name="SK-4-text-82"/>
          <p:cNvSpPr/>
          <p:nvPr/>
        </p:nvSpPr>
        <p:spPr>
          <a:xfrm>
            <a:off x="938659" y="658267"/>
            <a:ext cx="11163300" cy="4182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 de Custos Mensais</a:t>
            </a:r>
            <a:endParaRPr lang="en-US" sz="3000" dirty="0"/>
          </a:p>
        </p:txBody>
      </p:sp>
      <p:sp>
        <p:nvSpPr>
          <p:cNvPr id="84" name="SK-4-text-83"/>
          <p:cNvSpPr/>
          <p:nvPr/>
        </p:nvSpPr>
        <p:spPr>
          <a:xfrm>
            <a:off x="926455" y="1152079"/>
            <a:ext cx="11265545" cy="3153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025" dirty="0">
                <a:solidFill>
                  <a:srgbClr val="6E76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folga de segurança de 25% · Rateio de desenvolvimento incluído</a:t>
            </a:r>
            <a:endParaRPr lang="en-US" sz="2025" dirty="0"/>
          </a:p>
        </p:txBody>
      </p:sp>
      <p:sp>
        <p:nvSpPr>
          <p:cNvPr id="85" name="SK-4-text-84"/>
          <p:cNvSpPr/>
          <p:nvPr/>
        </p:nvSpPr>
        <p:spPr>
          <a:xfrm>
            <a:off x="1877467" y="5664696"/>
            <a:ext cx="8892540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por Chamada cai com escala</a:t>
            </a:r>
            <a:endParaRPr lang="en-US" sz="1800" dirty="0"/>
          </a:p>
        </p:txBody>
      </p:sp>
      <p:sp>
        <p:nvSpPr>
          <p:cNvPr id="86" name="SK-4-text-85"/>
          <p:cNvSpPr/>
          <p:nvPr/>
        </p:nvSpPr>
        <p:spPr>
          <a:xfrm>
            <a:off x="1877467" y="5980063"/>
            <a:ext cx="10314533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$0,036 a $0,005 na Monitoria conforme volume cresce</a:t>
            </a:r>
            <a:endParaRPr lang="en-US" sz="1200" dirty="0"/>
          </a:p>
        </p:txBody>
      </p:sp>
      <p:sp>
        <p:nvSpPr>
          <p:cNvPr id="87" name="SK-4-text-86"/>
          <p:cNvSpPr/>
          <p:nvPr/>
        </p:nvSpPr>
        <p:spPr>
          <a:xfrm>
            <a:off x="7558980" y="5657850"/>
            <a:ext cx="4633020" cy="260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Rateio de Dev: $500/mês fixo</a:t>
            </a:r>
            <a:endParaRPr lang="en-US" sz="1800" dirty="0"/>
          </a:p>
        </p:txBody>
      </p:sp>
      <p:sp>
        <p:nvSpPr>
          <p:cNvPr id="88" name="SK-4-text-87"/>
          <p:cNvSpPr/>
          <p:nvPr/>
        </p:nvSpPr>
        <p:spPr>
          <a:xfrm>
            <a:off x="7558980" y="5980063"/>
            <a:ext cx="463302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484F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$6.000 investidos, diluídos em 12 meses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92596" cy="1961257"/>
          </a:xfrm>
          <a:prstGeom prst="rect">
            <a:avLst/>
          </a:prstGeom>
        </p:spPr>
      </p:pic>
      <p:pic>
        <p:nvPicPr>
          <p:cNvPr id="4" name="SK-5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33277"/>
            <a:ext cx="292596" cy="4924574"/>
          </a:xfrm>
          <a:prstGeom prst="rect">
            <a:avLst/>
          </a:prstGeom>
        </p:spPr>
      </p:pic>
      <p:pic>
        <p:nvPicPr>
          <p:cNvPr id="5" name="SK-5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75" y="1769269"/>
            <a:ext cx="1194792" cy="102840"/>
          </a:xfrm>
          <a:prstGeom prst="rect">
            <a:avLst/>
          </a:prstGeom>
        </p:spPr>
      </p:pic>
      <p:pic>
        <p:nvPicPr>
          <p:cNvPr id="6" name="SK-5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75" y="6386810"/>
            <a:ext cx="10826353" cy="9525"/>
          </a:xfrm>
          <a:prstGeom prst="rect">
            <a:avLst/>
          </a:prstGeom>
        </p:spPr>
      </p:pic>
      <p:pic>
        <p:nvPicPr>
          <p:cNvPr id="7" name="SK-5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4173" y="2091630"/>
            <a:ext cx="3706267" cy="4066729"/>
          </a:xfrm>
          <a:prstGeom prst="rect">
            <a:avLst/>
          </a:prstGeom>
        </p:spPr>
      </p:pic>
      <p:pic>
        <p:nvPicPr>
          <p:cNvPr id="8" name="SK-5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267" y="1995636"/>
            <a:ext cx="11179969" cy="4107805"/>
          </a:xfrm>
          <a:prstGeom prst="rect">
            <a:avLst/>
          </a:prstGeom>
        </p:spPr>
      </p:pic>
      <p:sp>
        <p:nvSpPr>
          <p:cNvPr id="9" name="SK-5-text-8"/>
          <p:cNvSpPr/>
          <p:nvPr/>
        </p:nvSpPr>
        <p:spPr>
          <a:xfrm>
            <a:off x="670471" y="377130"/>
            <a:ext cx="5124450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AE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COMPARATIVO DE MERCADO</a:t>
            </a:r>
            <a:endParaRPr lang="en-US" sz="1500" dirty="0"/>
          </a:p>
        </p:txBody>
      </p:sp>
      <p:sp>
        <p:nvSpPr>
          <p:cNvPr id="10" name="SK-5-text-9"/>
          <p:cNvSpPr/>
          <p:nvPr/>
        </p:nvSpPr>
        <p:spPr>
          <a:xfrm>
            <a:off x="670471" y="685800"/>
            <a:ext cx="11521529" cy="6171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A2B4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Nossa Solução vs. Mercado</a:t>
            </a:r>
            <a:endParaRPr lang="en-US" sz="4200" dirty="0"/>
          </a:p>
        </p:txBody>
      </p:sp>
      <p:sp>
        <p:nvSpPr>
          <p:cNvPr id="11" name="SK-5-text-10"/>
          <p:cNvSpPr/>
          <p:nvPr/>
        </p:nvSpPr>
        <p:spPr>
          <a:xfrm>
            <a:off x="670471" y="1309836"/>
            <a:ext cx="11521529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550" dirty="0">
                <a:solidFill>
                  <a:srgbClr val="5870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a 15× mais barata que os principais concorrentes</a:t>
            </a:r>
            <a:endParaRPr lang="en-US" sz="2550" dirty="0"/>
          </a:p>
        </p:txBody>
      </p:sp>
      <p:sp>
        <p:nvSpPr>
          <p:cNvPr id="12" name="SK-5-text-11"/>
          <p:cNvSpPr/>
          <p:nvPr/>
        </p:nvSpPr>
        <p:spPr>
          <a:xfrm>
            <a:off x="658267" y="6515100"/>
            <a:ext cx="879348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99AA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Fonte: estimativas públicas de mercado · 2025</a:t>
            </a:r>
            <a:endParaRPr lang="en-US" sz="1200" dirty="0"/>
          </a:p>
        </p:txBody>
      </p:sp>
      <p:sp>
        <p:nvSpPr>
          <p:cNvPr id="13" name="SK-5-text-12"/>
          <p:cNvSpPr/>
          <p:nvPr/>
        </p:nvSpPr>
        <p:spPr>
          <a:xfrm>
            <a:off x="11152584" y="6501259"/>
            <a:ext cx="6491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buNone/>
            </a:pPr>
            <a:r>
              <a:rPr lang="en-US" sz="1200" dirty="0">
                <a:solidFill>
                  <a:srgbClr val="99AA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/ 08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6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61" y="1645890"/>
            <a:ext cx="853380" cy="116532"/>
          </a:xfrm>
          <a:prstGeom prst="rect">
            <a:avLst/>
          </a:prstGeom>
        </p:spPr>
      </p:pic>
      <p:pic>
        <p:nvPicPr>
          <p:cNvPr id="5" name="SK-6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69" y="2043559"/>
            <a:ext cx="11167765" cy="925711"/>
          </a:xfrm>
          <a:prstGeom prst="rect">
            <a:avLst/>
          </a:prstGeom>
        </p:spPr>
      </p:pic>
      <p:pic>
        <p:nvPicPr>
          <p:cNvPr id="6" name="SK-6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490" y="2249388"/>
            <a:ext cx="1889671" cy="425053"/>
          </a:xfrm>
          <a:prstGeom prst="rect">
            <a:avLst/>
          </a:prstGeom>
        </p:spPr>
      </p:pic>
      <p:pic>
        <p:nvPicPr>
          <p:cNvPr id="7" name="SK-6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761" y="1700659"/>
            <a:ext cx="2706588" cy="1248073"/>
          </a:xfrm>
          <a:prstGeom prst="rect">
            <a:avLst/>
          </a:prstGeom>
        </p:spPr>
      </p:pic>
      <p:pic>
        <p:nvPicPr>
          <p:cNvPr id="8" name="SK-6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969" y="3236863"/>
            <a:ext cx="11167765" cy="946398"/>
          </a:xfrm>
          <a:prstGeom prst="rect">
            <a:avLst/>
          </a:prstGeom>
        </p:spPr>
      </p:pic>
      <p:pic>
        <p:nvPicPr>
          <p:cNvPr id="9" name="SK-6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490" y="3446115"/>
            <a:ext cx="1889671" cy="425053"/>
          </a:xfrm>
          <a:prstGeom prst="rect">
            <a:avLst/>
          </a:prstGeom>
        </p:spPr>
      </p:pic>
      <p:pic>
        <p:nvPicPr>
          <p:cNvPr id="10" name="SK-6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761" y="2914650"/>
            <a:ext cx="2706588" cy="1248073"/>
          </a:xfrm>
          <a:prstGeom prst="rect">
            <a:avLst/>
          </a:prstGeom>
        </p:spPr>
      </p:pic>
      <p:pic>
        <p:nvPicPr>
          <p:cNvPr id="11" name="SK-6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1969" y="4430167"/>
            <a:ext cx="11167765" cy="966936"/>
          </a:xfrm>
          <a:prstGeom prst="rect">
            <a:avLst/>
          </a:prstGeom>
        </p:spPr>
      </p:pic>
      <p:pic>
        <p:nvPicPr>
          <p:cNvPr id="12" name="SK-6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490" y="4642842"/>
            <a:ext cx="1889671" cy="425053"/>
          </a:xfrm>
          <a:prstGeom prst="rect">
            <a:avLst/>
          </a:prstGeom>
        </p:spPr>
      </p:pic>
      <p:pic>
        <p:nvPicPr>
          <p:cNvPr id="13" name="SK-6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08871" y="4457700"/>
            <a:ext cx="6034980" cy="891480"/>
          </a:xfrm>
          <a:prstGeom prst="rect">
            <a:avLst/>
          </a:prstGeom>
        </p:spPr>
      </p:pic>
      <p:pic>
        <p:nvPicPr>
          <p:cNvPr id="14" name="SK-6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1969" y="5637163"/>
            <a:ext cx="5193655" cy="987475"/>
          </a:xfrm>
          <a:prstGeom prst="rect">
            <a:avLst/>
          </a:prstGeom>
        </p:spPr>
      </p:pic>
      <p:pic>
        <p:nvPicPr>
          <p:cNvPr id="15" name="SK-6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6079" y="5637163"/>
            <a:ext cx="5193655" cy="1008013"/>
          </a:xfrm>
          <a:prstGeom prst="rect">
            <a:avLst/>
          </a:prstGeom>
        </p:spPr>
      </p:pic>
      <p:pic>
        <p:nvPicPr>
          <p:cNvPr id="16" name="SK-6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7969" y="5740003"/>
            <a:ext cx="329059" cy="308521"/>
          </a:xfrm>
          <a:prstGeom prst="rect">
            <a:avLst/>
          </a:prstGeom>
        </p:spPr>
      </p:pic>
      <p:sp>
        <p:nvSpPr>
          <p:cNvPr id="17" name="SK-6-text-16"/>
          <p:cNvSpPr/>
          <p:nvPr/>
        </p:nvSpPr>
        <p:spPr>
          <a:xfrm>
            <a:off x="426690" y="329059"/>
            <a:ext cx="817245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2A5F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ANÁLISE ESTATÍSTICA · SLIDE 6 DE 8</a:t>
            </a:r>
            <a:endParaRPr lang="en-US" sz="1500" dirty="0"/>
          </a:p>
        </p:txBody>
      </p:sp>
      <p:sp>
        <p:nvSpPr>
          <p:cNvPr id="18" name="SK-6-text-17"/>
          <p:cNvSpPr/>
          <p:nvPr/>
        </p:nvSpPr>
        <p:spPr>
          <a:xfrm>
            <a:off x="414486" y="651421"/>
            <a:ext cx="11777514" cy="5348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Análise Bayesian Monte Carlo</a:t>
            </a:r>
            <a:endParaRPr lang="en-US" sz="3900" dirty="0"/>
          </a:p>
        </p:txBody>
      </p:sp>
      <p:sp>
        <p:nvSpPr>
          <p:cNvPr id="19" name="SK-6-text-18"/>
          <p:cNvSpPr/>
          <p:nvPr/>
        </p:nvSpPr>
        <p:spPr>
          <a:xfrm>
            <a:off x="438894" y="1220688"/>
            <a:ext cx="11753106" cy="3085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100" dirty="0">
                <a:solidFill>
                  <a:srgbClr val="90A4A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10.000 iterações · Intervalo de Credibilidade 80% (P10–P90) · Módulo Monitoria</a:t>
            </a:r>
            <a:endParaRPr lang="en-US" sz="2100" dirty="0"/>
          </a:p>
        </p:txBody>
      </p:sp>
      <p:sp>
        <p:nvSpPr>
          <p:cNvPr id="20" name="SK-6-text-19"/>
          <p:cNvSpPr/>
          <p:nvPr/>
        </p:nvSpPr>
        <p:spPr>
          <a:xfrm>
            <a:off x="877788" y="2317998"/>
            <a:ext cx="4757737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500 calls/dia</a:t>
            </a:r>
            <a:endParaRPr lang="en-US" sz="2025" dirty="0"/>
          </a:p>
        </p:txBody>
      </p:sp>
      <p:sp>
        <p:nvSpPr>
          <p:cNvPr id="21" name="SK-6-text-20"/>
          <p:cNvSpPr/>
          <p:nvPr/>
        </p:nvSpPr>
        <p:spPr>
          <a:xfrm>
            <a:off x="4572000" y="2660898"/>
            <a:ext cx="7620000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P10: $43/mês → P50 - P90: $54/mês</a:t>
            </a:r>
            <a:endParaRPr lang="en-US" sz="1350" dirty="0"/>
          </a:p>
        </p:txBody>
      </p:sp>
      <p:sp>
        <p:nvSpPr>
          <p:cNvPr id="22" name="SK-6-text-21"/>
          <p:cNvSpPr/>
          <p:nvPr/>
        </p:nvSpPr>
        <p:spPr>
          <a:xfrm>
            <a:off x="10009584" y="2132707"/>
            <a:ext cx="2182416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 $500 rateio dev</a:t>
            </a:r>
            <a:endParaRPr lang="en-US" sz="1200" dirty="0"/>
          </a:p>
        </p:txBody>
      </p:sp>
      <p:sp>
        <p:nvSpPr>
          <p:cNvPr id="23" name="SK-6-text-22"/>
          <p:cNvSpPr/>
          <p:nvPr/>
        </p:nvSpPr>
        <p:spPr>
          <a:xfrm>
            <a:off x="9619357" y="2386459"/>
            <a:ext cx="2572643" cy="281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$543–$554/mês</a:t>
            </a:r>
            <a:endParaRPr lang="en-US" sz="1950" dirty="0"/>
          </a:p>
        </p:txBody>
      </p:sp>
      <p:sp>
        <p:nvSpPr>
          <p:cNvPr id="24" name="SK-6-text-23"/>
          <p:cNvSpPr/>
          <p:nvPr/>
        </p:nvSpPr>
        <p:spPr>
          <a:xfrm>
            <a:off x="877788" y="3518148"/>
            <a:ext cx="5580697" cy="281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1.000 calls/dia</a:t>
            </a:r>
            <a:endParaRPr lang="en-US" sz="2025" dirty="0"/>
          </a:p>
        </p:txBody>
      </p:sp>
      <p:sp>
        <p:nvSpPr>
          <p:cNvPr id="25" name="SK-6-text-24"/>
          <p:cNvSpPr/>
          <p:nvPr/>
        </p:nvSpPr>
        <p:spPr>
          <a:xfrm>
            <a:off x="4572000" y="3867894"/>
            <a:ext cx="762000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P10: $63/mês → P50 - P90: $80/mês</a:t>
            </a:r>
            <a:endParaRPr lang="en-US" sz="1350" dirty="0"/>
          </a:p>
        </p:txBody>
      </p:sp>
      <p:sp>
        <p:nvSpPr>
          <p:cNvPr id="26" name="SK-6-text-25"/>
          <p:cNvSpPr/>
          <p:nvPr/>
        </p:nvSpPr>
        <p:spPr>
          <a:xfrm>
            <a:off x="10009584" y="3339703"/>
            <a:ext cx="2182416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 $500 rateio dev</a:t>
            </a:r>
            <a:endParaRPr lang="en-US" sz="1200" dirty="0"/>
          </a:p>
        </p:txBody>
      </p:sp>
      <p:sp>
        <p:nvSpPr>
          <p:cNvPr id="27" name="SK-6-text-26"/>
          <p:cNvSpPr/>
          <p:nvPr/>
        </p:nvSpPr>
        <p:spPr>
          <a:xfrm>
            <a:off x="9509671" y="3593455"/>
            <a:ext cx="2682329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$563–$580/mês</a:t>
            </a:r>
            <a:endParaRPr lang="en-US" sz="1950" dirty="0"/>
          </a:p>
        </p:txBody>
      </p:sp>
      <p:sp>
        <p:nvSpPr>
          <p:cNvPr id="28" name="SK-6-text-27"/>
          <p:cNvSpPr/>
          <p:nvPr/>
        </p:nvSpPr>
        <p:spPr>
          <a:xfrm>
            <a:off x="877788" y="4725144"/>
            <a:ext cx="5580697" cy="2605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5.000 calls/dia</a:t>
            </a:r>
            <a:endParaRPr lang="en-US" sz="2025" dirty="0"/>
          </a:p>
        </p:txBody>
      </p:sp>
      <p:sp>
        <p:nvSpPr>
          <p:cNvPr id="29" name="SK-6-text-28"/>
          <p:cNvSpPr/>
          <p:nvPr/>
        </p:nvSpPr>
        <p:spPr>
          <a:xfrm>
            <a:off x="4510980" y="5061198"/>
            <a:ext cx="7681020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P10: $247/mês → P50 - P90: $320/mês</a:t>
            </a:r>
            <a:endParaRPr lang="en-US" sz="1350" dirty="0"/>
          </a:p>
        </p:txBody>
      </p:sp>
      <p:sp>
        <p:nvSpPr>
          <p:cNvPr id="30" name="SK-6-text-29"/>
          <p:cNvSpPr/>
          <p:nvPr/>
        </p:nvSpPr>
        <p:spPr>
          <a:xfrm>
            <a:off x="10009584" y="4546848"/>
            <a:ext cx="2182416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 $500 rateio dev</a:t>
            </a:r>
            <a:endParaRPr lang="en-US" sz="1200" dirty="0"/>
          </a:p>
        </p:txBody>
      </p:sp>
      <p:sp>
        <p:nvSpPr>
          <p:cNvPr id="31" name="SK-6-text-30"/>
          <p:cNvSpPr/>
          <p:nvPr/>
        </p:nvSpPr>
        <p:spPr>
          <a:xfrm>
            <a:off x="9546282" y="4800600"/>
            <a:ext cx="2645718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$747–$820/mês</a:t>
            </a:r>
            <a:endParaRPr lang="en-US" sz="1950" dirty="0"/>
          </a:p>
        </p:txBody>
      </p:sp>
      <p:sp>
        <p:nvSpPr>
          <p:cNvPr id="32" name="SK-6-text-31"/>
          <p:cNvSpPr/>
          <p:nvPr/>
        </p:nvSpPr>
        <p:spPr>
          <a:xfrm>
            <a:off x="548580" y="5445175"/>
            <a:ext cx="2636520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2A5F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PRIORS DO MODELO</a:t>
            </a:r>
            <a:endParaRPr lang="en-US" sz="1050" dirty="0"/>
          </a:p>
        </p:txBody>
      </p:sp>
      <p:sp>
        <p:nvSpPr>
          <p:cNvPr id="33" name="SK-6-text-32"/>
          <p:cNvSpPr/>
          <p:nvPr/>
        </p:nvSpPr>
        <p:spPr>
          <a:xfrm>
            <a:off x="633859" y="5918448"/>
            <a:ext cx="950863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Priors</a:t>
            </a:r>
            <a:endParaRPr lang="en-US" sz="15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Utilizados</a:t>
            </a:r>
            <a:endParaRPr lang="en-US" sz="1500" dirty="0"/>
          </a:p>
        </p:txBody>
      </p:sp>
      <p:sp>
        <p:nvSpPr>
          <p:cNvPr id="34" name="SK-6-text-33"/>
          <p:cNvSpPr/>
          <p:nvPr/>
        </p:nvSpPr>
        <p:spPr>
          <a:xfrm>
            <a:off x="1853059" y="5726311"/>
            <a:ext cx="7452360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Whisper timing: LogNormal (0.55, 0.2)</a:t>
            </a:r>
            <a:endParaRPr lang="en-US" sz="1200" dirty="0"/>
          </a:p>
        </p:txBody>
      </p:sp>
      <p:sp>
        <p:nvSpPr>
          <p:cNvPr id="35" name="SK-6-text-34"/>
          <p:cNvSpPr/>
          <p:nvPr/>
        </p:nvSpPr>
        <p:spPr>
          <a:xfrm>
            <a:off x="1853059" y="5945832"/>
            <a:ext cx="10338941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Tokens LLM: Uniforme 2.000–3.000 input / 800–1.800 output</a:t>
            </a:r>
            <a:endParaRPr lang="en-US" sz="1200" dirty="0"/>
          </a:p>
        </p:txBody>
      </p:sp>
      <p:sp>
        <p:nvSpPr>
          <p:cNvPr id="36" name="SK-6-text-35"/>
          <p:cNvSpPr/>
          <p:nvPr/>
        </p:nvSpPr>
        <p:spPr>
          <a:xfrm>
            <a:off x="1853059" y="6158359"/>
            <a:ext cx="836676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Concorrência: distribuição [1, 2, 2, 2, 3]</a:t>
            </a:r>
            <a:endParaRPr lang="en-US" sz="1200" dirty="0"/>
          </a:p>
        </p:txBody>
      </p:sp>
      <p:sp>
        <p:nvSpPr>
          <p:cNvPr id="37" name="SK-6-text-36"/>
          <p:cNvSpPr/>
          <p:nvPr/>
        </p:nvSpPr>
        <p:spPr>
          <a:xfrm>
            <a:off x="1865263" y="6364188"/>
            <a:ext cx="61722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Folga de segurança: 25% aplicada</a:t>
            </a:r>
            <a:endParaRPr lang="en-US" sz="1200" dirty="0"/>
          </a:p>
        </p:txBody>
      </p:sp>
      <p:sp>
        <p:nvSpPr>
          <p:cNvPr id="38" name="SK-6-text-37"/>
          <p:cNvSpPr/>
          <p:nvPr/>
        </p:nvSpPr>
        <p:spPr>
          <a:xfrm>
            <a:off x="6985992" y="5726311"/>
            <a:ext cx="4535388" cy="6308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1275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Mesmo no pior cenário (P90), o custo variável permanece</a:t>
            </a:r>
            <a:endParaRPr lang="en-US" sz="1275" dirty="0"/>
          </a:p>
          <a:p>
            <a:pPr algn="l" indent="0" marL="0">
              <a:lnSpc>
                <a:spcPts val="1658"/>
              </a:lnSpc>
              <a:buNone/>
            </a:pPr>
            <a:r>
              <a:rPr lang="en-US" sz="1275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abaixo de $320/mês para 5.000 chamadas —</a:t>
            </a:r>
            <a:endParaRPr lang="en-US" sz="1275" dirty="0"/>
          </a:p>
          <a:p>
            <a:pPr algn="l" indent="0" marL="0">
              <a:lnSpc>
                <a:spcPts val="1658"/>
              </a:lnSpc>
              <a:buNone/>
            </a:pPr>
            <a:r>
              <a:rPr lang="en-US" sz="1275" dirty="0">
                <a:solidFill>
                  <a:srgbClr val="2632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confirmando alta previsibilidade.</a:t>
            </a:r>
            <a:endParaRPr lang="en-US" sz="1275" dirty="0"/>
          </a:p>
        </p:txBody>
      </p:sp>
      <p:sp>
        <p:nvSpPr>
          <p:cNvPr id="39" name="SK-6-text-38"/>
          <p:cNvSpPr/>
          <p:nvPr/>
        </p:nvSpPr>
        <p:spPr>
          <a:xfrm>
            <a:off x="6998196" y="6384727"/>
            <a:ext cx="34366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88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CONCLUSÃO ESTATÍSTICA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761" cy="6858000"/>
          </a:xfrm>
          <a:prstGeom prst="rect">
            <a:avLst/>
          </a:prstGeom>
        </p:spPr>
      </p:pic>
      <p:pic>
        <p:nvPicPr>
          <p:cNvPr id="4" name="SK-7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186"/>
            <a:ext cx="682675" cy="397669"/>
          </a:xfrm>
          <a:prstGeom prst="rect">
            <a:avLst/>
          </a:prstGeom>
        </p:spPr>
      </p:pic>
      <p:pic>
        <p:nvPicPr>
          <p:cNvPr id="5" name="SK-7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769" y="1938040"/>
            <a:ext cx="10765482" cy="19050"/>
          </a:xfrm>
          <a:prstGeom prst="rect">
            <a:avLst/>
          </a:prstGeom>
        </p:spPr>
      </p:pic>
      <p:pic>
        <p:nvPicPr>
          <p:cNvPr id="6" name="SK-7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863" y="3209479"/>
            <a:ext cx="4267200" cy="2036713"/>
          </a:xfrm>
          <a:prstGeom prst="rect">
            <a:avLst/>
          </a:prstGeom>
        </p:spPr>
      </p:pic>
      <p:pic>
        <p:nvPicPr>
          <p:cNvPr id="7" name="SK-7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7867" y="2509986"/>
            <a:ext cx="2743200" cy="3709392"/>
          </a:xfrm>
          <a:prstGeom prst="rect">
            <a:avLst/>
          </a:prstGeom>
        </p:spPr>
      </p:pic>
      <p:pic>
        <p:nvPicPr>
          <p:cNvPr id="8" name="SK-7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2188" y="2335113"/>
            <a:ext cx="1682353" cy="322213"/>
          </a:xfrm>
          <a:prstGeom prst="rect">
            <a:avLst/>
          </a:prstGeom>
        </p:spPr>
      </p:pic>
      <p:pic>
        <p:nvPicPr>
          <p:cNvPr id="9" name="SK-7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8573" y="4226570"/>
            <a:ext cx="2401788" cy="9525"/>
          </a:xfrm>
          <a:prstGeom prst="rect">
            <a:avLst/>
          </a:prstGeom>
        </p:spPr>
      </p:pic>
      <p:pic>
        <p:nvPicPr>
          <p:cNvPr id="10" name="SK-7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8573" y="5307955"/>
            <a:ext cx="2401788" cy="356592"/>
          </a:xfrm>
          <a:prstGeom prst="rect">
            <a:avLst/>
          </a:prstGeom>
        </p:spPr>
      </p:pic>
      <p:pic>
        <p:nvPicPr>
          <p:cNvPr id="11" name="SK-7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1373" y="2482453"/>
            <a:ext cx="2743200" cy="3727847"/>
          </a:xfrm>
          <a:prstGeom prst="rect">
            <a:avLst/>
          </a:prstGeom>
        </p:spPr>
      </p:pic>
      <p:pic>
        <p:nvPicPr>
          <p:cNvPr id="12" name="SK-7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5694" y="2269927"/>
            <a:ext cx="1694557" cy="342900"/>
          </a:xfrm>
          <a:prstGeom prst="rect">
            <a:avLst/>
          </a:prstGeom>
        </p:spPr>
      </p:pic>
      <p:pic>
        <p:nvPicPr>
          <p:cNvPr id="13" name="SK-7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62079" y="4199186"/>
            <a:ext cx="2401788" cy="9525"/>
          </a:xfrm>
          <a:prstGeom prst="rect">
            <a:avLst/>
          </a:prstGeom>
        </p:spPr>
      </p:pic>
      <p:pic>
        <p:nvPicPr>
          <p:cNvPr id="14" name="SK-7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62079" y="5301109"/>
            <a:ext cx="2401788" cy="356592"/>
          </a:xfrm>
          <a:prstGeom prst="rect">
            <a:avLst/>
          </a:prstGeom>
        </p:spPr>
      </p:pic>
      <p:pic>
        <p:nvPicPr>
          <p:cNvPr id="15" name="SK-7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7082" y="2365921"/>
            <a:ext cx="2779663" cy="3558629"/>
          </a:xfrm>
          <a:prstGeom prst="rect">
            <a:avLst/>
          </a:prstGeom>
        </p:spPr>
      </p:pic>
      <p:pic>
        <p:nvPicPr>
          <p:cNvPr id="16" name="SK-7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02588" y="2167086"/>
            <a:ext cx="1816596" cy="342900"/>
          </a:xfrm>
          <a:prstGeom prst="rect">
            <a:avLst/>
          </a:prstGeom>
        </p:spPr>
      </p:pic>
      <p:pic>
        <p:nvPicPr>
          <p:cNvPr id="17" name="SK-7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97788" y="4137422"/>
            <a:ext cx="2438400" cy="9525"/>
          </a:xfrm>
          <a:prstGeom prst="rect">
            <a:avLst/>
          </a:prstGeom>
        </p:spPr>
      </p:pic>
      <p:pic>
        <p:nvPicPr>
          <p:cNvPr id="18" name="SK-7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09992" y="5273725"/>
            <a:ext cx="2401788" cy="356592"/>
          </a:xfrm>
          <a:prstGeom prst="rect">
            <a:avLst/>
          </a:prstGeom>
        </p:spPr>
      </p:pic>
      <p:pic>
        <p:nvPicPr>
          <p:cNvPr id="19" name="SK-7-img-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655" y="6206430"/>
            <a:ext cx="11570196" cy="486817"/>
          </a:xfrm>
          <a:prstGeom prst="rect">
            <a:avLst/>
          </a:prstGeom>
        </p:spPr>
      </p:pic>
      <p:pic>
        <p:nvPicPr>
          <p:cNvPr id="20" name="SK-7-img-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97161" y="6309271"/>
            <a:ext cx="268188" cy="267444"/>
          </a:xfrm>
          <a:prstGeom prst="rect">
            <a:avLst/>
          </a:prstGeom>
        </p:spPr>
      </p:pic>
      <p:pic>
        <p:nvPicPr>
          <p:cNvPr id="21" name="SK-7-img-20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26353" y="5211961"/>
            <a:ext cx="194965" cy="335905"/>
          </a:xfrm>
          <a:prstGeom prst="rect">
            <a:avLst/>
          </a:prstGeom>
        </p:spPr>
      </p:pic>
      <p:sp>
        <p:nvSpPr>
          <p:cNvPr id="22" name="SK-7-text-21"/>
          <p:cNvSpPr/>
          <p:nvPr/>
        </p:nvSpPr>
        <p:spPr>
          <a:xfrm>
            <a:off x="215801" y="246757"/>
            <a:ext cx="360759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650" dirty="0"/>
          </a:p>
        </p:txBody>
      </p:sp>
      <p:sp>
        <p:nvSpPr>
          <p:cNvPr id="23" name="SK-7-text-22"/>
          <p:cNvSpPr/>
          <p:nvPr/>
        </p:nvSpPr>
        <p:spPr>
          <a:xfrm>
            <a:off x="865584" y="610344"/>
            <a:ext cx="5875020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80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PROJEÇÕES FINANCEIRAS</a:t>
            </a:r>
            <a:endParaRPr lang="en-US" sz="1800" dirty="0"/>
          </a:p>
        </p:txBody>
      </p:sp>
      <p:sp>
        <p:nvSpPr>
          <p:cNvPr id="24" name="SK-7-text-23"/>
          <p:cNvSpPr/>
          <p:nvPr/>
        </p:nvSpPr>
        <p:spPr>
          <a:xfrm>
            <a:off x="877788" y="946398"/>
            <a:ext cx="11314212" cy="4594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Cenários de Crescimento e Volume</a:t>
            </a:r>
            <a:endParaRPr lang="en-US" sz="3300" dirty="0"/>
          </a:p>
        </p:txBody>
      </p:sp>
      <p:sp>
        <p:nvSpPr>
          <p:cNvPr id="25" name="SK-7-text-24"/>
          <p:cNvSpPr/>
          <p:nvPr/>
        </p:nvSpPr>
        <p:spPr>
          <a:xfrm>
            <a:off x="865584" y="1488132"/>
            <a:ext cx="11326416" cy="3153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025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Quanto mais volume, menor o custo por chamada — a escala trabalha a seu favor</a:t>
            </a:r>
            <a:endParaRPr lang="en-US" sz="2025" dirty="0"/>
          </a:p>
        </p:txBody>
      </p:sp>
      <p:sp>
        <p:nvSpPr>
          <p:cNvPr id="26" name="SK-7-text-25"/>
          <p:cNvSpPr/>
          <p:nvPr/>
        </p:nvSpPr>
        <p:spPr>
          <a:xfrm>
            <a:off x="1849189" y="2386459"/>
            <a:ext cx="1568351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chamadas/dia</a:t>
            </a:r>
            <a:endParaRPr lang="en-US" sz="1275" dirty="0"/>
          </a:p>
        </p:txBody>
      </p:sp>
      <p:sp>
        <p:nvSpPr>
          <p:cNvPr id="27" name="SK-7-text-26"/>
          <p:cNvSpPr/>
          <p:nvPr/>
        </p:nvSpPr>
        <p:spPr>
          <a:xfrm>
            <a:off x="1873895" y="2777430"/>
            <a:ext cx="153114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 Inicial</a:t>
            </a:r>
            <a:endParaRPr lang="en-US" sz="1650" dirty="0"/>
          </a:p>
        </p:txBody>
      </p:sp>
      <p:sp>
        <p:nvSpPr>
          <p:cNvPr id="28" name="SK-7-text-27"/>
          <p:cNvSpPr/>
          <p:nvPr/>
        </p:nvSpPr>
        <p:spPr>
          <a:xfrm>
            <a:off x="1946970" y="3127177"/>
            <a:ext cx="138484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65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15.000 / mês</a:t>
            </a:r>
            <a:endParaRPr lang="en-US" sz="1650" dirty="0"/>
          </a:p>
        </p:txBody>
      </p:sp>
      <p:sp>
        <p:nvSpPr>
          <p:cNvPr id="29" name="SK-7-text-28"/>
          <p:cNvSpPr/>
          <p:nvPr/>
        </p:nvSpPr>
        <p:spPr>
          <a:xfrm>
            <a:off x="1604070" y="3435846"/>
            <a:ext cx="2058442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$859/mês</a:t>
            </a:r>
            <a:endParaRPr lang="en-US" sz="2850" dirty="0"/>
          </a:p>
        </p:txBody>
      </p:sp>
      <p:sp>
        <p:nvSpPr>
          <p:cNvPr id="30" name="SK-7-text-29"/>
          <p:cNvSpPr/>
          <p:nvPr/>
        </p:nvSpPr>
        <p:spPr>
          <a:xfrm>
            <a:off x="1854250" y="3881586"/>
            <a:ext cx="1570434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R$ 4.725/mês</a:t>
            </a:r>
            <a:endParaRPr lang="en-US" sz="1500" dirty="0"/>
          </a:p>
        </p:txBody>
      </p:sp>
      <p:sp>
        <p:nvSpPr>
          <p:cNvPr id="31" name="SK-7-text-30"/>
          <p:cNvSpPr/>
          <p:nvPr/>
        </p:nvSpPr>
        <p:spPr>
          <a:xfrm>
            <a:off x="1609279" y="4375398"/>
            <a:ext cx="3994785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Monitoria: $539</a:t>
            </a:r>
            <a:endParaRPr lang="en-US" sz="1350" dirty="0"/>
          </a:p>
        </p:txBody>
      </p:sp>
      <p:sp>
        <p:nvSpPr>
          <p:cNvPr id="32" name="SK-7-text-31"/>
          <p:cNvSpPr/>
          <p:nvPr/>
        </p:nvSpPr>
        <p:spPr>
          <a:xfrm>
            <a:off x="1609279" y="4629150"/>
            <a:ext cx="3789045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Chatbots: $113</a:t>
            </a:r>
            <a:endParaRPr lang="en-US" sz="1350" dirty="0"/>
          </a:p>
        </p:txBody>
      </p:sp>
      <p:sp>
        <p:nvSpPr>
          <p:cNvPr id="33" name="SK-7-text-32"/>
          <p:cNvSpPr/>
          <p:nvPr/>
        </p:nvSpPr>
        <p:spPr>
          <a:xfrm>
            <a:off x="1609279" y="4882753"/>
            <a:ext cx="2417445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URA: $78</a:t>
            </a:r>
            <a:endParaRPr lang="en-US" sz="1350" dirty="0"/>
          </a:p>
        </p:txBody>
      </p:sp>
      <p:sp>
        <p:nvSpPr>
          <p:cNvPr id="34" name="SK-7-text-33"/>
          <p:cNvSpPr/>
          <p:nvPr/>
        </p:nvSpPr>
        <p:spPr>
          <a:xfrm>
            <a:off x="1609279" y="5136505"/>
            <a:ext cx="276034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Voz: $129</a:t>
            </a:r>
            <a:endParaRPr lang="en-US" sz="1350" dirty="0"/>
          </a:p>
        </p:txBody>
      </p:sp>
      <p:sp>
        <p:nvSpPr>
          <p:cNvPr id="35" name="SK-7-text-34"/>
          <p:cNvSpPr/>
          <p:nvPr/>
        </p:nvSpPr>
        <p:spPr>
          <a:xfrm>
            <a:off x="1493193" y="5506938"/>
            <a:ext cx="2292400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por chamada: $0.036</a:t>
            </a:r>
            <a:endParaRPr lang="en-US" sz="1350" dirty="0"/>
          </a:p>
        </p:txBody>
      </p:sp>
      <p:sp>
        <p:nvSpPr>
          <p:cNvPr id="36" name="SK-7-text-35"/>
          <p:cNvSpPr/>
          <p:nvPr/>
        </p:nvSpPr>
        <p:spPr>
          <a:xfrm>
            <a:off x="5323880" y="2331690"/>
            <a:ext cx="1665833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1.000 chamadas/dia</a:t>
            </a:r>
            <a:endParaRPr lang="en-US" sz="1275" dirty="0"/>
          </a:p>
        </p:txBody>
      </p:sp>
      <p:sp>
        <p:nvSpPr>
          <p:cNvPr id="37" name="SK-7-text-36"/>
          <p:cNvSpPr/>
          <p:nvPr/>
        </p:nvSpPr>
        <p:spPr>
          <a:xfrm>
            <a:off x="5019377" y="2736205"/>
            <a:ext cx="2262634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 Intermediário</a:t>
            </a:r>
            <a:endParaRPr lang="en-US" sz="1650" dirty="0"/>
          </a:p>
        </p:txBody>
      </p:sp>
      <p:sp>
        <p:nvSpPr>
          <p:cNvPr id="38" name="SK-7-text-37"/>
          <p:cNvSpPr/>
          <p:nvPr/>
        </p:nvSpPr>
        <p:spPr>
          <a:xfrm>
            <a:off x="5446068" y="3086100"/>
            <a:ext cx="1421457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65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30.000 / mês</a:t>
            </a:r>
            <a:endParaRPr lang="en-US" sz="1650" dirty="0"/>
          </a:p>
        </p:txBody>
      </p:sp>
      <p:sp>
        <p:nvSpPr>
          <p:cNvPr id="39" name="SK-7-text-38"/>
          <p:cNvSpPr/>
          <p:nvPr/>
        </p:nvSpPr>
        <p:spPr>
          <a:xfrm>
            <a:off x="4981277" y="3401467"/>
            <a:ext cx="2338834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$1.050/mês</a:t>
            </a:r>
            <a:endParaRPr lang="en-US" sz="2850" dirty="0"/>
          </a:p>
        </p:txBody>
      </p:sp>
      <p:sp>
        <p:nvSpPr>
          <p:cNvPr id="40" name="SK-7-text-39"/>
          <p:cNvSpPr/>
          <p:nvPr/>
        </p:nvSpPr>
        <p:spPr>
          <a:xfrm>
            <a:off x="5377755" y="3840361"/>
            <a:ext cx="15582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R$ 5.775/mês</a:t>
            </a:r>
            <a:endParaRPr lang="en-US" sz="1500" dirty="0"/>
          </a:p>
        </p:txBody>
      </p:sp>
      <p:sp>
        <p:nvSpPr>
          <p:cNvPr id="41" name="SK-7-text-40"/>
          <p:cNvSpPr/>
          <p:nvPr/>
        </p:nvSpPr>
        <p:spPr>
          <a:xfrm>
            <a:off x="5120580" y="4347865"/>
            <a:ext cx="399478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Monitoria: $568</a:t>
            </a:r>
            <a:endParaRPr lang="en-US" sz="1350" dirty="0"/>
          </a:p>
        </p:txBody>
      </p:sp>
      <p:sp>
        <p:nvSpPr>
          <p:cNvPr id="42" name="SK-7-text-41"/>
          <p:cNvSpPr/>
          <p:nvPr/>
        </p:nvSpPr>
        <p:spPr>
          <a:xfrm>
            <a:off x="5120580" y="4601617"/>
            <a:ext cx="3789045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Chatbots: $113</a:t>
            </a:r>
            <a:endParaRPr lang="en-US" sz="1350" dirty="0"/>
          </a:p>
        </p:txBody>
      </p:sp>
      <p:sp>
        <p:nvSpPr>
          <p:cNvPr id="43" name="SK-7-text-42"/>
          <p:cNvSpPr/>
          <p:nvPr/>
        </p:nvSpPr>
        <p:spPr>
          <a:xfrm>
            <a:off x="5120580" y="4855369"/>
            <a:ext cx="2760345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URA: $130</a:t>
            </a:r>
            <a:endParaRPr lang="en-US" sz="1350" dirty="0"/>
          </a:p>
        </p:txBody>
      </p:sp>
      <p:sp>
        <p:nvSpPr>
          <p:cNvPr id="44" name="SK-7-text-43"/>
          <p:cNvSpPr/>
          <p:nvPr/>
        </p:nvSpPr>
        <p:spPr>
          <a:xfrm>
            <a:off x="5120580" y="5102275"/>
            <a:ext cx="2760345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Voz: $239</a:t>
            </a:r>
            <a:endParaRPr lang="en-US" sz="1350" dirty="0"/>
          </a:p>
        </p:txBody>
      </p:sp>
      <p:sp>
        <p:nvSpPr>
          <p:cNvPr id="45" name="SK-7-text-44"/>
          <p:cNvSpPr/>
          <p:nvPr/>
        </p:nvSpPr>
        <p:spPr>
          <a:xfrm>
            <a:off x="5028902" y="5506938"/>
            <a:ext cx="2243584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por chamada: $0.019</a:t>
            </a:r>
            <a:endParaRPr lang="en-US" sz="1350" dirty="0"/>
          </a:p>
        </p:txBody>
      </p:sp>
      <p:sp>
        <p:nvSpPr>
          <p:cNvPr id="46" name="SK-7-text-45"/>
          <p:cNvSpPr/>
          <p:nvPr/>
        </p:nvSpPr>
        <p:spPr>
          <a:xfrm>
            <a:off x="8859589" y="2235696"/>
            <a:ext cx="167803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5.000 chamadas/dia</a:t>
            </a:r>
            <a:endParaRPr lang="en-US" sz="1275" dirty="0"/>
          </a:p>
        </p:txBody>
      </p:sp>
      <p:sp>
        <p:nvSpPr>
          <p:cNvPr id="47" name="SK-7-text-46"/>
          <p:cNvSpPr/>
          <p:nvPr/>
        </p:nvSpPr>
        <p:spPr>
          <a:xfrm>
            <a:off x="8750201" y="2647057"/>
            <a:ext cx="1896963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 de Escala</a:t>
            </a:r>
            <a:endParaRPr lang="en-US" sz="1650" dirty="0"/>
          </a:p>
        </p:txBody>
      </p:sp>
      <p:sp>
        <p:nvSpPr>
          <p:cNvPr id="48" name="SK-7-text-47"/>
          <p:cNvSpPr/>
          <p:nvPr/>
        </p:nvSpPr>
        <p:spPr>
          <a:xfrm>
            <a:off x="8957370" y="2996803"/>
            <a:ext cx="1494532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65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150.000 / mês</a:t>
            </a:r>
            <a:endParaRPr lang="en-US" sz="1650" dirty="0"/>
          </a:p>
        </p:txBody>
      </p:sp>
      <p:sp>
        <p:nvSpPr>
          <p:cNvPr id="49" name="SK-7-text-48"/>
          <p:cNvSpPr/>
          <p:nvPr/>
        </p:nvSpPr>
        <p:spPr>
          <a:xfrm>
            <a:off x="8504783" y="3298627"/>
            <a:ext cx="2399854" cy="4045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$2.560/mês</a:t>
            </a:r>
            <a:endParaRPr lang="en-US" sz="2850" dirty="0"/>
          </a:p>
        </p:txBody>
      </p:sp>
      <p:sp>
        <p:nvSpPr>
          <p:cNvPr id="50" name="SK-7-text-49"/>
          <p:cNvSpPr/>
          <p:nvPr/>
        </p:nvSpPr>
        <p:spPr>
          <a:xfrm>
            <a:off x="8864650" y="3751213"/>
            <a:ext cx="1667917" cy="2330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R$ 14.080/mês</a:t>
            </a:r>
            <a:endParaRPr lang="en-US" sz="1500" dirty="0"/>
          </a:p>
        </p:txBody>
      </p:sp>
      <p:sp>
        <p:nvSpPr>
          <p:cNvPr id="51" name="SK-7-text-50"/>
          <p:cNvSpPr/>
          <p:nvPr/>
        </p:nvSpPr>
        <p:spPr>
          <a:xfrm>
            <a:off x="8656290" y="4265563"/>
            <a:ext cx="3535710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Monitoria: $788</a:t>
            </a:r>
            <a:endParaRPr lang="en-US" sz="1350" dirty="0"/>
          </a:p>
        </p:txBody>
      </p:sp>
      <p:sp>
        <p:nvSpPr>
          <p:cNvPr id="52" name="SK-7-text-51"/>
          <p:cNvSpPr/>
          <p:nvPr/>
        </p:nvSpPr>
        <p:spPr>
          <a:xfrm>
            <a:off x="8656290" y="4512469"/>
            <a:ext cx="353571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Chatbots: $113</a:t>
            </a:r>
            <a:endParaRPr lang="en-US" sz="1350" dirty="0"/>
          </a:p>
        </p:txBody>
      </p:sp>
      <p:sp>
        <p:nvSpPr>
          <p:cNvPr id="53" name="SK-7-text-52"/>
          <p:cNvSpPr/>
          <p:nvPr/>
        </p:nvSpPr>
        <p:spPr>
          <a:xfrm>
            <a:off x="8656290" y="4766221"/>
            <a:ext cx="2760345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URA: $550</a:t>
            </a:r>
            <a:endParaRPr lang="en-US" sz="1350" dirty="0"/>
          </a:p>
        </p:txBody>
      </p:sp>
      <p:sp>
        <p:nvSpPr>
          <p:cNvPr id="54" name="SK-7-text-53"/>
          <p:cNvSpPr/>
          <p:nvPr/>
        </p:nvSpPr>
        <p:spPr>
          <a:xfrm>
            <a:off x="8656290" y="5019973"/>
            <a:ext cx="330898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350" dirty="0">
                <a:solidFill>
                  <a:srgbClr val="001B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Voz: $1.109</a:t>
            </a:r>
            <a:endParaRPr lang="en-US" sz="1350" dirty="0"/>
          </a:p>
        </p:txBody>
      </p:sp>
      <p:sp>
        <p:nvSpPr>
          <p:cNvPr id="55" name="SK-7-text-54"/>
          <p:cNvSpPr/>
          <p:nvPr/>
        </p:nvSpPr>
        <p:spPr>
          <a:xfrm>
            <a:off x="8564612" y="5479405"/>
            <a:ext cx="2280196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por chamada: $0.005</a:t>
            </a:r>
            <a:endParaRPr lang="en-US" sz="1350" dirty="0"/>
          </a:p>
        </p:txBody>
      </p:sp>
      <p:sp>
        <p:nvSpPr>
          <p:cNvPr id="56" name="SK-7-text-55"/>
          <p:cNvSpPr/>
          <p:nvPr/>
        </p:nvSpPr>
        <p:spPr>
          <a:xfrm>
            <a:off x="1377553" y="6336655"/>
            <a:ext cx="10814447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escalar de 500 para 5.000 chamadas/dia — o custo unitário cai 7x, de $0.036 para $0.005 por chamada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2675" cy="6591151"/>
          </a:xfrm>
          <a:prstGeom prst="rect">
            <a:avLst/>
          </a:prstGeom>
        </p:spPr>
      </p:pic>
      <p:pic>
        <p:nvPicPr>
          <p:cNvPr id="4" name="SK-8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0" y="0"/>
            <a:ext cx="2438400" cy="2400300"/>
          </a:xfrm>
          <a:prstGeom prst="rect">
            <a:avLst/>
          </a:prstGeom>
        </p:spPr>
      </p:pic>
      <p:pic>
        <p:nvPicPr>
          <p:cNvPr id="5" name="SK-8-img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479" y="1810494"/>
            <a:ext cx="804565" cy="89148"/>
          </a:xfrm>
          <a:prstGeom prst="rect">
            <a:avLst/>
          </a:prstGeom>
        </p:spPr>
      </p:pic>
      <p:pic>
        <p:nvPicPr>
          <p:cNvPr id="6" name="SK-8-img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4479" y="2407146"/>
            <a:ext cx="3182094" cy="3305473"/>
          </a:xfrm>
          <a:prstGeom prst="rect">
            <a:avLst/>
          </a:prstGeom>
        </p:spPr>
      </p:pic>
      <p:pic>
        <p:nvPicPr>
          <p:cNvPr id="7" name="SK-8-img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4479" y="2283619"/>
            <a:ext cx="3182094" cy="191988"/>
          </a:xfrm>
          <a:prstGeom prst="rect">
            <a:avLst/>
          </a:prstGeom>
        </p:spPr>
      </p:pic>
      <p:pic>
        <p:nvPicPr>
          <p:cNvPr id="8" name="SK-8-img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1153" y="2592288"/>
            <a:ext cx="731490" cy="644575"/>
          </a:xfrm>
          <a:prstGeom prst="rect">
            <a:avLst/>
          </a:prstGeom>
        </p:spPr>
      </p:pic>
      <p:pic>
        <p:nvPicPr>
          <p:cNvPr id="9" name="SK-8-img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5098" y="5239494"/>
            <a:ext cx="1840855" cy="294829"/>
          </a:xfrm>
          <a:prstGeom prst="rect">
            <a:avLst/>
          </a:prstGeom>
        </p:spPr>
      </p:pic>
      <p:pic>
        <p:nvPicPr>
          <p:cNvPr id="10" name="SK-8-img-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0353" y="2311003"/>
            <a:ext cx="3182094" cy="3401467"/>
          </a:xfrm>
          <a:prstGeom prst="rect">
            <a:avLst/>
          </a:prstGeom>
        </p:spPr>
      </p:pic>
      <p:pic>
        <p:nvPicPr>
          <p:cNvPr id="11" name="SK-8-img-1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0353" y="2283619"/>
            <a:ext cx="3182094" cy="191988"/>
          </a:xfrm>
          <a:prstGeom prst="rect">
            <a:avLst/>
          </a:prstGeom>
        </p:spPr>
      </p:pic>
      <p:pic>
        <p:nvPicPr>
          <p:cNvPr id="12" name="SK-8-img-1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05773" y="5239494"/>
            <a:ext cx="1231255" cy="294829"/>
          </a:xfrm>
          <a:prstGeom prst="rect">
            <a:avLst/>
          </a:prstGeom>
        </p:spPr>
      </p:pic>
      <p:pic>
        <p:nvPicPr>
          <p:cNvPr id="13" name="SK-8-img-1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56377" y="2365921"/>
            <a:ext cx="3182094" cy="3346698"/>
          </a:xfrm>
          <a:prstGeom prst="rect">
            <a:avLst/>
          </a:prstGeom>
        </p:spPr>
      </p:pic>
      <p:pic>
        <p:nvPicPr>
          <p:cNvPr id="14" name="SK-8-img-1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56377" y="2283619"/>
            <a:ext cx="3182094" cy="191988"/>
          </a:xfrm>
          <a:prstGeom prst="rect">
            <a:avLst/>
          </a:prstGeom>
        </p:spPr>
      </p:pic>
      <p:pic>
        <p:nvPicPr>
          <p:cNvPr id="15" name="SK-8-img-14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92753" y="5249763"/>
            <a:ext cx="2109192" cy="294829"/>
          </a:xfrm>
          <a:prstGeom prst="rect">
            <a:avLst/>
          </a:prstGeom>
        </p:spPr>
      </p:pic>
      <p:pic>
        <p:nvPicPr>
          <p:cNvPr id="16" name="SK-8-img-15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4479" y="5897166"/>
            <a:ext cx="10033992" cy="543074"/>
          </a:xfrm>
          <a:prstGeom prst="rect">
            <a:avLst/>
          </a:prstGeom>
        </p:spPr>
      </p:pic>
      <p:pic>
        <p:nvPicPr>
          <p:cNvPr id="17" name="SK-8-img-16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600825"/>
            <a:ext cx="12192000" cy="257175"/>
          </a:xfrm>
          <a:prstGeom prst="rect">
            <a:avLst/>
          </a:prstGeom>
        </p:spPr>
      </p:pic>
      <p:pic>
        <p:nvPicPr>
          <p:cNvPr id="18" name="SK-8-img-17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631067" y="6617940"/>
            <a:ext cx="316855" cy="219373"/>
          </a:xfrm>
          <a:prstGeom prst="rect">
            <a:avLst/>
          </a:prstGeom>
        </p:spPr>
      </p:pic>
      <p:pic>
        <p:nvPicPr>
          <p:cNvPr id="19" name="SK-8-img-18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11867" y="2571750"/>
            <a:ext cx="694879" cy="685800"/>
          </a:xfrm>
          <a:prstGeom prst="rect">
            <a:avLst/>
          </a:prstGeom>
        </p:spPr>
      </p:pic>
      <p:pic>
        <p:nvPicPr>
          <p:cNvPr id="20" name="SK-8-img-1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49380" y="2537371"/>
            <a:ext cx="731490" cy="720030"/>
          </a:xfrm>
          <a:prstGeom prst="rect">
            <a:avLst/>
          </a:prstGeom>
        </p:spPr>
      </p:pic>
      <p:pic>
        <p:nvPicPr>
          <p:cNvPr id="21" name="SK-8-img-20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75490" y="514350"/>
            <a:ext cx="1511796" cy="1165771"/>
          </a:xfrm>
          <a:prstGeom prst="rect">
            <a:avLst/>
          </a:prstGeom>
        </p:spPr>
      </p:pic>
      <p:sp>
        <p:nvSpPr>
          <p:cNvPr id="22" name="SK-8-text-21"/>
          <p:cNvSpPr/>
          <p:nvPr/>
        </p:nvSpPr>
        <p:spPr>
          <a:xfrm>
            <a:off x="158353" y="294829"/>
            <a:ext cx="1328738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2325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08</a:t>
            </a:r>
            <a:endParaRPr lang="en-US" sz="2325" dirty="0"/>
          </a:p>
        </p:txBody>
      </p:sp>
      <p:sp>
        <p:nvSpPr>
          <p:cNvPr id="23" name="SK-8-text-22"/>
          <p:cNvSpPr/>
          <p:nvPr/>
        </p:nvSpPr>
        <p:spPr>
          <a:xfrm>
            <a:off x="1280071" y="342900"/>
            <a:ext cx="5888355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650" dirty="0">
                <a:solidFill>
                  <a:srgbClr val="4285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ESTRATÉGIA &amp; EFICIÊNCIA</a:t>
            </a:r>
            <a:endParaRPr lang="en-US" sz="1650" dirty="0"/>
          </a:p>
        </p:txBody>
      </p:sp>
      <p:sp>
        <p:nvSpPr>
          <p:cNvPr id="24" name="SK-8-text-23"/>
          <p:cNvSpPr/>
          <p:nvPr/>
        </p:nvSpPr>
        <p:spPr>
          <a:xfrm>
            <a:off x="1280071" y="651421"/>
            <a:ext cx="5010894" cy="10903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4208"/>
              </a:lnSpc>
              <a:buNone/>
            </a:pPr>
            <a:r>
              <a:rPr lang="en-US" sz="3825" b="1" dirty="0">
                <a:solidFill>
                  <a:srgbClr val="001D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Otimizações Futuras</a:t>
            </a:r>
            <a:endParaRPr lang="en-US" sz="3825" dirty="0"/>
          </a:p>
          <a:p>
            <a:pPr algn="l" indent="0" marL="0">
              <a:lnSpc>
                <a:spcPts val="4208"/>
              </a:lnSpc>
              <a:buNone/>
            </a:pPr>
            <a:r>
              <a:rPr lang="en-US" sz="3825" b="1" dirty="0">
                <a:solidFill>
                  <a:srgbClr val="001D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Estratégia</a:t>
            </a:r>
            <a:endParaRPr lang="en-US" sz="3825" dirty="0"/>
          </a:p>
        </p:txBody>
      </p:sp>
      <p:sp>
        <p:nvSpPr>
          <p:cNvPr id="25" name="SK-8-text-24"/>
          <p:cNvSpPr/>
          <p:nvPr/>
        </p:nvSpPr>
        <p:spPr>
          <a:xfrm>
            <a:off x="1499592" y="2633365"/>
            <a:ext cx="1609279" cy="5828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Redução de</a:t>
            </a:r>
            <a:endParaRPr lang="en-US" sz="195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Custos</a:t>
            </a:r>
            <a:endParaRPr lang="en-US" sz="1950" dirty="0"/>
          </a:p>
        </p:txBody>
      </p:sp>
      <p:sp>
        <p:nvSpPr>
          <p:cNvPr id="26" name="SK-8-text-25"/>
          <p:cNvSpPr/>
          <p:nvPr/>
        </p:nvSpPr>
        <p:spPr>
          <a:xfrm>
            <a:off x="1511796" y="3374082"/>
            <a:ext cx="2621161" cy="4525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PUSH subscription → -40%</a:t>
            </a:r>
            <a:endParaRPr lang="en-US" sz="1425" dirty="0"/>
          </a:p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custo do worker</a:t>
            </a:r>
            <a:endParaRPr lang="en-US" sz="1425" dirty="0"/>
          </a:p>
        </p:txBody>
      </p:sp>
      <p:sp>
        <p:nvSpPr>
          <p:cNvPr id="27" name="SK-8-text-26"/>
          <p:cNvSpPr/>
          <p:nvPr/>
        </p:nvSpPr>
        <p:spPr>
          <a:xfrm>
            <a:off x="1511796" y="3922663"/>
            <a:ext cx="2767459" cy="4594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Compromisso de uso 1 ano</a:t>
            </a:r>
            <a:endParaRPr lang="en-US" sz="1425" dirty="0"/>
          </a:p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(CUD) → -20% em Cloud Run</a:t>
            </a:r>
            <a:endParaRPr lang="en-US" sz="1425" dirty="0"/>
          </a:p>
        </p:txBody>
      </p:sp>
      <p:sp>
        <p:nvSpPr>
          <p:cNvPr id="28" name="SK-8-text-27"/>
          <p:cNvSpPr/>
          <p:nvPr/>
        </p:nvSpPr>
        <p:spPr>
          <a:xfrm>
            <a:off x="1511796" y="4457700"/>
            <a:ext cx="2523679" cy="6994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DeepSeek V4 Flash → LLM</a:t>
            </a:r>
            <a:endParaRPr lang="en-US" sz="1425" dirty="0"/>
          </a:p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mais barato do mercado</a:t>
            </a:r>
            <a:endParaRPr lang="en-US" sz="1425" dirty="0"/>
          </a:p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($0.14/1M tokens)</a:t>
            </a:r>
            <a:endParaRPr lang="en-US" sz="1425" dirty="0"/>
          </a:p>
        </p:txBody>
      </p:sp>
      <p:sp>
        <p:nvSpPr>
          <p:cNvPr id="29" name="SK-8-text-28"/>
          <p:cNvSpPr/>
          <p:nvPr/>
        </p:nvSpPr>
        <p:spPr>
          <a:xfrm>
            <a:off x="2072580" y="5287417"/>
            <a:ext cx="3782378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Economia imediata</a:t>
            </a:r>
            <a:endParaRPr lang="en-US" sz="1425" dirty="0"/>
          </a:p>
        </p:txBody>
      </p:sp>
      <p:sp>
        <p:nvSpPr>
          <p:cNvPr id="30" name="SK-8-text-29"/>
          <p:cNvSpPr/>
          <p:nvPr/>
        </p:nvSpPr>
        <p:spPr>
          <a:xfrm>
            <a:off x="4901059" y="2633365"/>
            <a:ext cx="1462980" cy="5896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Escala sob</a:t>
            </a:r>
            <a:endParaRPr lang="en-US" sz="195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Demanda</a:t>
            </a:r>
            <a:endParaRPr lang="en-US" sz="1950" dirty="0"/>
          </a:p>
        </p:txBody>
      </p:sp>
      <p:sp>
        <p:nvSpPr>
          <p:cNvPr id="31" name="SK-8-text-30"/>
          <p:cNvSpPr/>
          <p:nvPr/>
        </p:nvSpPr>
        <p:spPr>
          <a:xfrm>
            <a:off x="4901059" y="3374082"/>
            <a:ext cx="2462659" cy="4525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Arquitetura min=0 → zero</a:t>
            </a:r>
            <a:endParaRPr lang="en-US" sz="1425" dirty="0"/>
          </a:p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 em ociosidade</a:t>
            </a:r>
            <a:endParaRPr lang="en-US" sz="1425" dirty="0"/>
          </a:p>
        </p:txBody>
      </p:sp>
      <p:sp>
        <p:nvSpPr>
          <p:cNvPr id="32" name="SK-8-text-31"/>
          <p:cNvSpPr/>
          <p:nvPr/>
        </p:nvSpPr>
        <p:spPr>
          <a:xfrm>
            <a:off x="4901059" y="3922663"/>
            <a:ext cx="2889498" cy="4594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Cloud Run escala</a:t>
            </a:r>
            <a:endParaRPr lang="en-US" sz="1425" dirty="0"/>
          </a:p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automaticamente com volume</a:t>
            </a:r>
            <a:endParaRPr lang="en-US" sz="1425" dirty="0"/>
          </a:p>
        </p:txBody>
      </p:sp>
      <p:sp>
        <p:nvSpPr>
          <p:cNvPr id="33" name="SK-8-text-32"/>
          <p:cNvSpPr/>
          <p:nvPr/>
        </p:nvSpPr>
        <p:spPr>
          <a:xfrm>
            <a:off x="4901059" y="4457700"/>
            <a:ext cx="2743200" cy="4525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Fallback MiniMax M3 garante</a:t>
            </a:r>
            <a:endParaRPr lang="en-US" sz="1425" dirty="0"/>
          </a:p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resiliência</a:t>
            </a:r>
            <a:endParaRPr lang="en-US" sz="1425" dirty="0"/>
          </a:p>
        </p:txBody>
      </p:sp>
      <p:sp>
        <p:nvSpPr>
          <p:cNvPr id="34" name="SK-8-text-33"/>
          <p:cNvSpPr/>
          <p:nvPr/>
        </p:nvSpPr>
        <p:spPr>
          <a:xfrm>
            <a:off x="5742384" y="5287417"/>
            <a:ext cx="2696528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Cloud-native</a:t>
            </a:r>
            <a:endParaRPr lang="en-US" sz="1425" dirty="0"/>
          </a:p>
        </p:txBody>
      </p:sp>
      <p:sp>
        <p:nvSpPr>
          <p:cNvPr id="35" name="SK-8-text-34"/>
          <p:cNvSpPr/>
          <p:nvPr/>
        </p:nvSpPr>
        <p:spPr>
          <a:xfrm>
            <a:off x="8363694" y="2633365"/>
            <a:ext cx="1036290" cy="5896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</a:t>
            </a:r>
            <a:endParaRPr lang="en-US" sz="195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SaaS</a:t>
            </a:r>
            <a:endParaRPr lang="en-US" sz="1950" dirty="0"/>
          </a:p>
        </p:txBody>
      </p:sp>
      <p:sp>
        <p:nvSpPr>
          <p:cNvPr id="36" name="SK-8-text-35"/>
          <p:cNvSpPr/>
          <p:nvPr/>
        </p:nvSpPr>
        <p:spPr>
          <a:xfrm>
            <a:off x="8363694" y="3374082"/>
            <a:ext cx="2377380" cy="4662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Precificação de revenda:</a:t>
            </a:r>
            <a:endParaRPr lang="en-US" sz="1425" dirty="0"/>
          </a:p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$0.05/chamada</a:t>
            </a:r>
            <a:endParaRPr lang="en-US" sz="1425" dirty="0"/>
          </a:p>
        </p:txBody>
      </p:sp>
      <p:sp>
        <p:nvSpPr>
          <p:cNvPr id="37" name="SK-8-text-36"/>
          <p:cNvSpPr/>
          <p:nvPr/>
        </p:nvSpPr>
        <p:spPr>
          <a:xfrm>
            <a:off x="8363694" y="3915817"/>
            <a:ext cx="2413992" cy="4525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Margem estimada: ~90%</a:t>
            </a:r>
            <a:endParaRPr lang="en-US" sz="1425" dirty="0"/>
          </a:p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sobre custo</a:t>
            </a:r>
            <a:endParaRPr lang="en-US" sz="1425" dirty="0"/>
          </a:p>
        </p:txBody>
      </p:sp>
      <p:sp>
        <p:nvSpPr>
          <p:cNvPr id="38" name="SK-8-text-37"/>
          <p:cNvSpPr/>
          <p:nvPr/>
        </p:nvSpPr>
        <p:spPr>
          <a:xfrm>
            <a:off x="8363694" y="4457700"/>
            <a:ext cx="2548086" cy="4731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Solução 6-15x mais barata</a:t>
            </a:r>
            <a:endParaRPr lang="en-US" sz="1425" dirty="0"/>
          </a:p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 concorrentes</a:t>
            </a:r>
            <a:endParaRPr lang="en-US" sz="1425" dirty="0"/>
          </a:p>
        </p:txBody>
      </p:sp>
      <p:sp>
        <p:nvSpPr>
          <p:cNvPr id="39" name="SK-8-text-38"/>
          <p:cNvSpPr/>
          <p:nvPr/>
        </p:nvSpPr>
        <p:spPr>
          <a:xfrm>
            <a:off x="8717161" y="5287417"/>
            <a:ext cx="3474839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Alto potencial de receita</a:t>
            </a:r>
            <a:endParaRPr lang="en-US" sz="1425" dirty="0"/>
          </a:p>
        </p:txBody>
      </p:sp>
      <p:sp>
        <p:nvSpPr>
          <p:cNvPr id="40" name="SK-8-text-39"/>
          <p:cNvSpPr/>
          <p:nvPr/>
        </p:nvSpPr>
        <p:spPr>
          <a:xfrm>
            <a:off x="2137916" y="5973217"/>
            <a:ext cx="8367117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“Infraestrutura eficiente hoje. Plataforma SaaS amanhã.”</a:t>
            </a:r>
            <a:endParaRPr lang="en-US" sz="2550" dirty="0"/>
          </a:p>
        </p:txBody>
      </p:sp>
      <p:sp>
        <p:nvSpPr>
          <p:cNvPr id="41" name="SK-8-text-40"/>
          <p:cNvSpPr/>
          <p:nvPr/>
        </p:nvSpPr>
        <p:spPr>
          <a:xfrm>
            <a:off x="755898" y="6645325"/>
            <a:ext cx="7330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OmniChannel · Projeção de Custos 2025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t>CENARIO ATUAL (HOJE) — Infra em Operacao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Componente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Custo/mes (USD)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Custo/mes (BRL)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Nota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Worker (min=1, sempre ligado)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4vCPU/4GB, 730h/mes fixo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DeepSeek LLM (poucas chamadas)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10-50 chamadas/dia reais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API Cloud Run (idle)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Min=0, quase nao ativa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Firestore + Storage + PubSub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Infra fixa compartilhada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100"/>
                          </a:solidFill>
                        </a:defRPr>
                      </a:pPr>
                      <a:r>
                        <a:t>TOTAL MONITORIA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100"/>
                          </a:solidFill>
                        </a:defRPr>
                      </a:pPr>
                      <a:r>
                        <a:t>$95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100"/>
                          </a:solidFill>
                        </a:defRPr>
                      </a:pPr>
                      <a:r>
                        <a:t>R$ 524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100"/>
                          </a:solidFill>
                        </a:defRPr>
                      </a:pPr>
                      <a:r>
                        <a:t> 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 Chatbots WhatsApp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R$ 622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Cloud Run + Postgres + LLM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100"/>
                          </a:solidFill>
                        </a:defRPr>
                      </a:pPr>
                      <a:r>
                        <a:t>TOTAL ECOSSISTEMA HOJE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100"/>
                          </a:solidFill>
                        </a:defRPr>
                      </a:pPr>
                      <a:r>
                        <a:t>$208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100"/>
                          </a:solidFill>
                        </a:defRPr>
                      </a:pPr>
                      <a:r>
                        <a:t>R$ 1.146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100"/>
                          </a:solidFill>
                        </a:defRPr>
                      </a:pPr>
                      <a:r>
                        <a:t>Monitoria + WhatsApp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53035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Capacidade HOJE: ~500-1.000 chamadas/dia (sem gargalo)</a:t>
            </a:r>
          </a:p>
          <a:p>
            <a:pPr algn="ctr">
              <a:defRPr sz="1000">
                <a:solidFill>
                  <a:srgbClr val="666666"/>
                </a:solidFill>
              </a:defRPr>
            </a:pPr>
            <a:r>
              <a:t>1 instancia (min=1) = ~170 chamadas/hora | Pico (max=4) = ~680 chamadas/hora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F4E79"/>
                </a:solidFill>
              </a:defRPr>
            </a:pPr>
            <a:r>
              <a:t>Apoie o Projeto OmniChannel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Contribua via PIX para o desenvolvimento contínuo</a:t>
            </a:r>
          </a:p>
        </p:txBody>
      </p:sp>
      <p:pic>
        <p:nvPicPr>
          <p:cNvPr id="3" name="Picture 2" descr="pix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82880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3035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</a:defRPr>
            </a:pPr>
            <a:r>
              <a:t>PIX CPF: 047.799.777-54</a:t>
            </a:r>
          </a:p>
          <a:p>
            <a:pPr algn="ctr">
              <a:defRPr sz="1000">
                <a:solidFill>
                  <a:srgbClr val="999999"/>
                </a:solidFill>
              </a:defRPr>
            </a:pPr>
            <a:r>
              <a:t>Vinícius Brito | OmniChannel — Projeções Financeiras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2026-07-13T00:53:56Z</dcterms:created>
  <dcterms:modified xsi:type="dcterms:W3CDTF">2026-07-13T00:53:56Z</dcterms:modified>
</cp:coreProperties>
</file>