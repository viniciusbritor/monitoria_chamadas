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45720"/>
          </a:xfrm>
          <a:prstGeom prst="rect">
            <a:avLst/>
          </a:prstGeom>
          <a:solidFill>
            <a:srgbClr val="007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5183342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9260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CUSTOS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4903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ACCEE"/>
                </a:solidFill>
                <a:latin typeface="Calibri"/>
              </a:defRPr>
            </a:pPr>
            <a:r>
              <a:t>Infraestrutura &amp; Inteligencia Artificial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Plataforma OmniChannel - Julho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CONFIDENCIAL - Preparado para investidores e stakeholders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OPERACAO EM GCP COM DEEPSEEK V4 FLASH COMO LLM PRIMARIO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Premissas financeiras e tecnicas que fundamentam todas as projecoes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01168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3657600"/>
              </a:tblGrid>
              <a:tr h="406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Fonte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Cambio USD/BRL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R$ 5,50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Cotacao Julho 2026</a:t>
                      </a:r>
                    </a:p>
                  </a:txBody>
                  <a:tcPr marL="50800" marR="50800" marT="25400" marB="25400"/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Margem de seguranca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10% sobre todos os valores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Politica conservadora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LLM Primario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DeepSeek V4 Flash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Pay-per-token: $0,14/1M input + $0,28/1M output</a:t>
                      </a:r>
                    </a:p>
                  </a:txBody>
                  <a:tcPr marL="50800" marR="50800" marT="25400" marB="25400"/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LLM Fallback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MiniMax M3 Plus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Plano fixo $20/mes (creditos + fallback 5%)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Infraestrutura Cloud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Google Cloud Run (us-central1)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Gen2, 4vCPU/4GB worker, min=1</a:t>
                      </a:r>
                    </a:p>
                  </a:txBody>
                  <a:tcPr marL="50800" marR="50800" marT="25400" marB="25400"/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Audio medio por chamada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 minutos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Formato WAV, mono, 16kHz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Transcricao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Whisper base (74MB, int8)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faster-whisper, ~0.1x tempo real</a:t>
                      </a:r>
                    </a:p>
                  </a:txBody>
                  <a:tcPr marL="50800" marR="50800" marT="25400" marB="25400"/>
                </a:tc>
              </a:tr>
              <a:tr h="4064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Projeto GCP Principal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coherence-ominichannel-fs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Cloud Run + Firestore + Pub/Sub + GCS + Compute Engine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R$ 1,153/MES: GCP 69%, IA DEV 17%, IA PROD 13%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Tres pilares independentes de custo operacional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011680"/>
            <a:ext cx="3474720" cy="76200"/>
          </a:xfrm>
          <a:prstGeom prst="rect">
            <a:avLst/>
          </a:prstGeom>
          <a:solidFill>
            <a:srgbClr val="00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4D"/>
                </a:solidFill>
                <a:latin typeface="Calibri"/>
              </a:defRPr>
            </a:pPr>
            <a:r>
              <a:t>INFRAESTRUTURA GCP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3333"/>
                </a:solidFill>
                <a:latin typeface="Calibri"/>
              </a:defRPr>
            </a:pPr>
            <a:r>
              <a:t>R$ 801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USD $146/mes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Cloud Run, Firestore, Storage,</a:t>
            </a:r>
            <a:br/>
            <a:r>
              <a:t>Pub/Sub, Compute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011680"/>
            <a:ext cx="3474720" cy="4114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2011680"/>
            <a:ext cx="3474720" cy="76200"/>
          </a:xfrm>
          <a:prstGeom prst="rect">
            <a:avLst/>
          </a:prstGeom>
          <a:solidFill>
            <a:srgbClr val="007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3BE"/>
                </a:solidFill>
                <a:latin typeface="Calibri"/>
              </a:defRPr>
            </a:pPr>
            <a:r>
              <a:t>IA DESENVOLVIMENTO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3333"/>
                </a:solidFill>
                <a:latin typeface="Calibri"/>
              </a:defRPr>
            </a:pPr>
            <a:r>
              <a:t>R$ 201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USD $36/mes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DeepSeek tokens para testes,</a:t>
            </a:r>
            <a:br/>
            <a:r>
              <a:t>engenharia de prompts,</a:t>
            </a:r>
            <a:br/>
            <a:r>
              <a:t>MiniMax Plus (plano fixo)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011680"/>
            <a:ext cx="3474720" cy="4114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2011680"/>
            <a:ext cx="3474720" cy="76200"/>
          </a:xfrm>
          <a:prstGeom prst="rect">
            <a:avLst/>
          </a:prstGeom>
          <a:solidFill>
            <a:srgbClr val="00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100"/>
                </a:solidFill>
                <a:latin typeface="Calibri"/>
              </a:defRPr>
            </a:pPr>
            <a:r>
              <a:t>IA PRODUCAO (MODULOS)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3333"/>
                </a:solidFill>
                <a:latin typeface="Calibri"/>
              </a:defRPr>
            </a:pPr>
            <a:r>
              <a:t>R$ 151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USD $28/mes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DeepSeek na Monitoria,</a:t>
            </a:r>
            <a:br/>
            <a:r>
              <a:t>Chatbots WhatsApp,</a:t>
            </a:r>
            <a:br/>
            <a:r>
              <a:t>extras (URA, overflow)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GCP R$ 801 + IA DESENVOLVIMENTO R$ 201 + IA PRODUCAO R$ 151 = R$ 1,153/MES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4D"/>
                </a:solidFill>
                <a:latin typeface="Calibri"/>
              </a:defRPr>
            </a:pPr>
            <a:r>
              <a:t>Infraestrutura GCP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828800"/>
          <a:ext cx="5029200" cy="2926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</a:tblGrid>
              <a:tr h="325119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Servico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BRL/mes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Cloud Run Worker (4vCPU/4GB, min=1, 730h/mes)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R$ 468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API + Portal Cloud Run (min=0, idle)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R$ 42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Firestore (2 projetos: chamadas + WhatsApp)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R$ 91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Cloud Storage (audios temporarios + backups)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R$ 36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Pub/Sub + Secret Manager (10 secrets)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R$ 18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Cloud Build + Artifact Registry (CI/CD)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R$ 24</a:t>
                      </a:r>
                    </a:p>
                  </a:txBody>
                  <a:tcPr marL="50800" marR="50800" marT="25400" marB="25400"/>
                </a:tc>
              </a:tr>
              <a:tr h="32511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VM e2-small + IP WhatsApp (Evolution API)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R$ 121</a:t>
                      </a:r>
                    </a:p>
                  </a:txBody>
                  <a:tcPr marL="50800" marR="50800" marT="25400" marB="25400"/>
                </a:tc>
              </a:tr>
              <a:tr h="32512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R$ 801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3BE"/>
                </a:solidFill>
                <a:latin typeface="Calibri"/>
              </a:defRPr>
            </a:pPr>
            <a:r>
              <a:t>IA - Desenvolvimento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828800"/>
          <a:ext cx="4572000" cy="1325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</a:tblGrid>
              <a:tr h="331469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 de IA</a:t>
                      </a:r>
                    </a:p>
                  </a:txBody>
                  <a:tcPr marL="50800" marR="50800" marT="25400" marB="25400">
                    <a:solidFill>
                      <a:srgbClr val="0073B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BRL/mes</a:t>
                      </a:r>
                    </a:p>
                  </a:txBody>
                  <a:tcPr marL="50800" marR="50800" marT="25400" marB="25400">
                    <a:solidFill>
                      <a:srgbClr val="0073BE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DeepSeek V4 Flash — Desenvolvimento (testes, prompts, engenharia)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R$ 91</a:t>
                      </a:r>
                    </a:p>
                  </a:txBody>
                  <a:tcPr marL="50800" marR="50800" marT="25400" marB="25400"/>
                </a:tc>
              </a:tr>
              <a:tr h="331469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MiniMax Plus — Plano fixo mensal ($20/mes, fallback + creditos)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R$ 110</a:t>
                      </a:r>
                    </a:p>
                  </a:txBody>
                  <a:tcPr marL="50800" marR="50800" marT="25400" marB="25400"/>
                </a:tc>
              </a:tr>
              <a:tr h="33147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R$ 201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4183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100"/>
                </a:solidFill>
                <a:latin typeface="Calibri"/>
              </a:defRPr>
            </a:pPr>
            <a:r>
              <a:t>IA - Producao (Modulos)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1828800"/>
          <a:ext cx="22860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 de IA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BRL/mes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DeepSeek V4 Flash — Monitoria de Chamadas (~20 chamadas/dia)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R$ 12</a:t>
                      </a:r>
                    </a:p>
                  </a:txBody>
                  <a:tcPr marL="50800" marR="50800" marT="25400" marB="25400"/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DeepSeek V4 Flash — Chatbots WhatsApp (5 bots, 200 msg/dia)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R$ 48</a:t>
                      </a:r>
                    </a:p>
                  </a:txBody>
                  <a:tcPr marL="50800" marR="50800" marT="25400" marB="25400"/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900" b="0">
                          <a:latin typeface="Calibri"/>
                        </a:defRPr>
                      </a:pPr>
                      <a:r>
                        <a:t>DeepSeek V4 Flash — Extras (URA dev, overflow, melhorias)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latin typeface="Calibri"/>
                        </a:defRPr>
                      </a:pPr>
                      <a:r>
                        <a:t>R$ 91</a:t>
                      </a:r>
                    </a:p>
                  </a:txBody>
                  <a:tcPr marL="50800" marR="50800" marT="25400" marB="25400"/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R$ 151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2B4D"/>
                </a:solidFill>
                <a:latin typeface="Calibri"/>
              </a:defRPr>
            </a:pPr>
            <a:r>
              <a:t>TOTAL MENSAL: R$ 1,153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CENARIO-ALVO: 500 CHAMADAS/DIA CUSTA APENAS R$ 0.08 POR CHAMADA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Primeiro cliente BPO - 15,000 chamadas/mes processadas automaticamente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029200" cy="1371600"/>
          </a:xfrm>
          <a:prstGeom prst="roundRect">
            <a:avLst/>
          </a:prstGeom>
          <a:solidFill>
            <a:srgbClr val="00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R$ 0.08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26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CCEE"/>
                </a:solidFill>
                <a:latin typeface="Calibri"/>
              </a:defRPr>
            </a:pPr>
            <a:r>
              <a:t>por chamada analisada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011680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Categoria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BRL/mes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GCP (Worker + Infra + WhatsApp)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R$ 734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64%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 Desenvolvimento (estabilizado)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R$ 201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 Producao - DeepSeek Monitoria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R$ 62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 Producao - DeepSeek Chatbots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R$ 53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 Producao - MiniMax fallback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IA Producao - Extras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R$ 91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</a:p>
                  </a:txBody>
                  <a:tcPr marL="50800" marR="50800" marT="25400" marB="254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06100"/>
                          </a:solidFill>
                          <a:latin typeface="Calibri"/>
                        </a:defRPr>
                      </a:pPr>
                      <a:r>
                        <a:t>TOTAL 500 chamadas/dia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6100"/>
                          </a:solidFill>
                          <a:latin typeface="Calibri"/>
                        </a:defRPr>
                      </a:pPr>
                      <a:r>
                        <a:t>R$ 1,144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06100"/>
                          </a:solidFill>
                          <a:latin typeface="Calibri"/>
                        </a:defRPr>
                      </a:pPr>
                      <a:r>
                        <a:t>CUSTO POR CHAMADA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6100"/>
                          </a:solidFill>
                          <a:latin typeface="Calibri"/>
                        </a:defRPr>
                      </a:pPr>
                      <a:r>
                        <a:t>R$ 0.08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99999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31520" y="5486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Escala: 1.000/dia -&gt; R$ 0.04/chamada  |  5.000/dia -&gt; R$ 0.01/chamada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TELEPERFORMANCE E ATENTO GASTAM R$ 0,50-1,00/CHAMADA COM QA HUMANO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Nossa automacao com IA e 10-13x mais barata - e cobre 100% das chamadas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8" name="Picture 7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71600" y="182880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743200"/>
                <a:gridCol w="18288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Empresa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 de QA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Custo por Chamada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Nossa Solucao</a:t>
                      </a:r>
                    </a:p>
                  </a:txBody>
                  <a:tcPr marL="50800" marR="50800" marT="25400" marB="25400">
                    <a:solidFill>
                      <a:srgbClr val="002B4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Teleperformance Brasil</a:t>
                      </a:r>
                      <a:br/>
                      <a:r>
                        <a:t>BPO global, 80 mil funcionarios no Brasil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 humano — analistas escutam amostras (2-5% das chamadas)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R$ 0.50-1.00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10x mais caro</a:t>
                      </a:r>
                    </a:p>
                  </a:txBody>
                  <a:tcPr marL="50800" marR="50800" marT="25400" marB="25400"/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Atento Brasil</a:t>
                      </a:r>
                      <a:br/>
                      <a:r>
                        <a:t>Maior BPO da America Latina, 90 mil func. BR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Monitoria manual — equipe dedicada de qualidade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R$ 0.40-0.80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8x mais caro</a:t>
                      </a:r>
                    </a:p>
                  </a:txBody>
                  <a:tcPr marL="50800" marR="50800" marT="25400" marB="25400"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NOSSA SOLUCAO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 automatizado - IA analisa</a:t>
                      </a:r>
                      <a:br/>
                      <a:r>
                        <a:t>CADA chamada em tempo real</a:t>
                      </a:r>
                      <a:br/>
                      <a:r>
                        <a:t>DeepSeek V4 Flash + MiniMax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R$ 0.08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REFERENCIA</a:t>
                      </a:r>
                    </a:p>
                  </a:txBody>
                  <a:tcPr marL="50800" marR="50800" marT="25400" marB="25400">
                    <a:solidFill>
                      <a:srgbClr val="00610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Vantagem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Cobertura 100% vs 2-5%</a:t>
                      </a:r>
                      <a:br/>
                      <a:r>
                        <a:t>Relatorio em &lt; 2 minutos</a:t>
                      </a:r>
                      <a:br/>
                      <a:r>
                        <a:t>Zero intervencao humana</a:t>
                      </a: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 marL="50800" marR="50800" marT="25400" marB="25400">
                    <a:solidFill>
                      <a:srgbClr val="D6E8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6100"/>
                </a:solidFill>
                <a:latin typeface="Calibri"/>
              </a:defRPr>
            </a:pPr>
            <a:r>
              <a:t>Economia vs Teleperformance: ~R$ 10,106/mes para operacao de 500 chamadas/dia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PROCESSAMOS 100% DAS CHAMADAS - CONCORRENCIA AUDITA APENAS 2-5%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Capacidade atual da plataforma e diferenciais competitivos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347472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B4D"/>
                </a:solidFill>
                <a:latin typeface="Calibri"/>
              </a:defRPr>
            </a:pPr>
            <a:r>
              <a:t>500-1.000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Chamadas por dia</a:t>
            </a:r>
            <a:br/>
            <a:r>
              <a:t>sem gargalo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Capacidade atual comprovada</a:t>
            </a:r>
            <a:br/>
            <a:r>
              <a:t>Worker 4vCPU/4GB, concurrency=2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011680"/>
            <a:ext cx="347472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B4D"/>
                </a:solidFill>
                <a:latin typeface="Calibri"/>
              </a:defRPr>
            </a:pPr>
            <a:r>
              <a:t>16.000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4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Pico maximo diario</a:t>
            </a:r>
            <a:br/>
            <a:r>
              <a:t>com auto-scaling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Cloud Run escala ate 4 instancias</a:t>
            </a:r>
            <a:br/>
            <a:r>
              <a:t>Processamento paralelo automatico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011680"/>
            <a:ext cx="347472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94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B4D"/>
                </a:solidFill>
                <a:latin typeface="Calibri"/>
              </a:defRPr>
            </a:pPr>
            <a:r>
              <a:t>&lt; 2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34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Tempo de resposta</a:t>
            </a:r>
            <a:br/>
            <a:r>
              <a:t>por chamada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Upload -&gt; Transcricao -&gt; Analise</a:t>
            </a:r>
            <a:br/>
            <a:r>
              <a:t>Resultado completo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4D"/>
                </a:solidFill>
                <a:latin typeface="Calibri"/>
              </a:defRPr>
            </a:pPr>
            <a:r>
              <a:t>Diferenciais competitivos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86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- Cobertura de 100% das chamadas vs 2-5% do modelo tradicional de QA humano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- Analise em 3 fases: Apresentacao, Resolucao e Fechamento - com probabilidade de sentimentos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8873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- Relatorios automaticos com nota QA, NPS e checklist de conformidade (POP)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60899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- Processamento 100% automatizado - zero intervencao humana do upload ao relatorio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B4D"/>
                </a:solidFill>
                <a:latin typeface="Calibri"/>
              </a:defRPr>
            </a:pPr>
            <a:r>
              <a:t>JULHO 2026 -&gt; ABRIL 2027: DE R$ 1.153/MES A PLATAFORMA SAAS MULTI-CLIENTE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Calibri"/>
              </a:defRPr>
            </a:pPr>
            <a:r>
              <a:t>CONFIDENCIAL - OmniChannel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6446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>
                <a:solidFill>
                  <a:srgbClr val="999999"/>
                </a:solidFill>
                <a:latin typeface="Calibri"/>
              </a:defRPr>
            </a:pPr>
            <a:r>
              <a:t>Fonte: GCP Pricing Jul/2026, DeepSeek API</a:t>
            </a:r>
          </a:p>
        </p:txBody>
      </p:sp>
      <p:pic>
        <p:nvPicPr>
          <p:cNvPr id="7" name="Picture 6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263640"/>
            <a:ext cx="2591671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38647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39" y="2834640"/>
            <a:ext cx="36576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645920"/>
            <a:ext cx="210312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2103120" cy="76200"/>
          </a:xfrm>
          <a:prstGeom prst="rect">
            <a:avLst/>
          </a:prstGeom>
          <a:solidFill>
            <a:srgbClr val="00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2B4D"/>
                </a:solidFill>
                <a:latin typeface="Calibri"/>
              </a:defRPr>
            </a:pPr>
            <a:r>
              <a:t>JUL-AGO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Estabilizar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432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Otimizar worker</a:t>
            </a:r>
            <a:br/>
            <a:r>
              <a:t>(PUSH subscription)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3192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B4D"/>
                </a:solidFill>
                <a:latin typeface="Calibri"/>
              </a:defRPr>
            </a:pPr>
            <a:r>
              <a:t>Economia de</a:t>
            </a:r>
            <a:br/>
            <a:r>
              <a:t>R$ 468/mes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834640"/>
            <a:ext cx="36576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17520" y="1645920"/>
            <a:ext cx="210312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7520" y="1645920"/>
            <a:ext cx="2103120" cy="76200"/>
          </a:xfrm>
          <a:prstGeom prst="rect">
            <a:avLst/>
          </a:prstGeom>
          <a:solidFill>
            <a:srgbClr val="007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79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73BE"/>
                </a:solidFill>
                <a:latin typeface="Calibri"/>
              </a:defRPr>
            </a:pPr>
            <a:r>
              <a:t>SET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Vender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79" y="27432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Fechar 1o cliente</a:t>
            </a:r>
            <a:br/>
            <a:r>
              <a:t>BPO (500 chamadas/dia)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93192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54679" y="40233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73BE"/>
                </a:solidFill>
                <a:latin typeface="Calibri"/>
              </a:defRPr>
            </a:pPr>
            <a:r>
              <a:t>Validacao</a:t>
            </a:r>
            <a:br/>
            <a:r>
              <a:t>de mercado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834640"/>
            <a:ext cx="36576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03520" y="1645920"/>
            <a:ext cx="210312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1645920"/>
            <a:ext cx="2103120" cy="76200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5B96"/>
                </a:solidFill>
                <a:latin typeface="Calibri"/>
              </a:defRPr>
            </a:pPr>
            <a:r>
              <a:t>OUT-DEZ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Escalar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7432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1.000+ chamadas/dia</a:t>
            </a:r>
            <a:br/>
            <a:r>
              <a:t>Segundo cliente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393192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0233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5B96"/>
                </a:solidFill>
                <a:latin typeface="Calibri"/>
              </a:defRPr>
            </a:pPr>
            <a:r>
              <a:t>Custo cai para</a:t>
            </a:r>
            <a:br/>
            <a:r>
              <a:t>R$ 0,04/chamada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834640"/>
            <a:ext cx="36576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1645920"/>
            <a:ext cx="210312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9520" y="1645920"/>
            <a:ext cx="2103120" cy="76200"/>
          </a:xfrm>
          <a:prstGeom prst="rect">
            <a:avLst/>
          </a:prstGeom>
          <a:solidFill>
            <a:srgbClr val="00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6100"/>
                </a:solidFill>
                <a:latin typeface="Calibri"/>
              </a:defRPr>
            </a:pPr>
            <a:r>
              <a:t>JAN-MAR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8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Expandir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80" y="27432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Lancar URA + Voz</a:t>
            </a:r>
            <a:br/>
            <a:r>
              <a:t>(portfolio completo)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393192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80" y="40233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6100"/>
                </a:solidFill>
                <a:latin typeface="Calibri"/>
              </a:defRPr>
            </a:pPr>
            <a:r>
              <a:t>Novos modulos</a:t>
            </a:r>
            <a:br/>
            <a:r>
              <a:t>de receita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75520" y="1645920"/>
            <a:ext cx="210312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75520" y="1645920"/>
            <a:ext cx="2103120" cy="7620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8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D35400"/>
                </a:solidFill>
                <a:latin typeface="Calibri"/>
              </a:defRPr>
            </a:pPr>
            <a:r>
              <a:t>ABR 2027+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8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SaaS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27432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Plataforma multi-cliente</a:t>
            </a:r>
            <a:br/>
            <a:r>
              <a:t>5.000+ chamadas/dia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32720" y="3931920"/>
            <a:ext cx="118872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12680" y="40233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35400"/>
                </a:solidFill>
                <a:latin typeface="Calibri"/>
              </a:defRPr>
            </a:pPr>
            <a:r>
              <a:t>Margem 85%+</a:t>
            </a:r>
            <a:br/>
            <a:r>
              <a:t>Receita recorrente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2B4D"/>
                </a:solidFill>
                <a:latin typeface="Calibri"/>
              </a:defRPr>
            </a:pPr>
            <a:r>
              <a:t>Modelo de receita: cobrar R$ 0,50 por chamada analisada - margem de ~85% sobre custo operacional de R$ 0.08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op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4320"/>
            <a:ext cx="3887506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B4D"/>
                </a:solidFill>
                <a:latin typeface="Calibri"/>
              </a:defRPr>
            </a:pPr>
            <a:r>
              <a:t>SEGUE MEU PIX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Calibri"/>
              </a:defRPr>
            </a:pPr>
            <a:r>
              <a:t>Apoie o desenvolvimento da plataforma OmniChannel</a:t>
            </a:r>
          </a:p>
        </p:txBody>
      </p:sp>
      <p:pic>
        <p:nvPicPr>
          <p:cNvPr id="6" name="Picture 5" descr="pix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47472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33333"/>
                </a:solidFill>
                <a:latin typeface="Calibri"/>
              </a:defRPr>
            </a:pPr>
            <a:r>
              <a:t>CPF: 047.799.777-54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55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Vinicius Brito - OmniChannel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